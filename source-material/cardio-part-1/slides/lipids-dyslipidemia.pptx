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98"/>
  </p:notesMasterIdLst>
  <p:sldIdLst>
    <p:sldId id="256" r:id="rId2"/>
    <p:sldId id="319" r:id="rId3"/>
    <p:sldId id="290" r:id="rId4"/>
    <p:sldId id="257" r:id="rId5"/>
    <p:sldId id="301" r:id="rId6"/>
    <p:sldId id="261" r:id="rId7"/>
    <p:sldId id="298" r:id="rId8"/>
    <p:sldId id="262" r:id="rId9"/>
    <p:sldId id="263" r:id="rId10"/>
    <p:sldId id="324" r:id="rId11"/>
    <p:sldId id="395" r:id="rId12"/>
    <p:sldId id="300" r:id="rId13"/>
    <p:sldId id="285" r:id="rId14"/>
    <p:sldId id="260" r:id="rId15"/>
    <p:sldId id="378" r:id="rId16"/>
    <p:sldId id="264" r:id="rId17"/>
    <p:sldId id="265" r:id="rId18"/>
    <p:sldId id="266" r:id="rId19"/>
    <p:sldId id="267" r:id="rId20"/>
    <p:sldId id="268" r:id="rId21"/>
    <p:sldId id="269" r:id="rId22"/>
    <p:sldId id="320" r:id="rId23"/>
    <p:sldId id="270" r:id="rId24"/>
    <p:sldId id="321" r:id="rId25"/>
    <p:sldId id="322" r:id="rId26"/>
    <p:sldId id="287" r:id="rId27"/>
    <p:sldId id="284" r:id="rId28"/>
    <p:sldId id="327" r:id="rId29"/>
    <p:sldId id="330" r:id="rId30"/>
    <p:sldId id="328" r:id="rId31"/>
    <p:sldId id="331" r:id="rId32"/>
    <p:sldId id="332" r:id="rId33"/>
    <p:sldId id="333" r:id="rId34"/>
    <p:sldId id="334" r:id="rId35"/>
    <p:sldId id="335" r:id="rId36"/>
    <p:sldId id="286" r:id="rId37"/>
    <p:sldId id="377" r:id="rId38"/>
    <p:sldId id="376" r:id="rId39"/>
    <p:sldId id="294" r:id="rId40"/>
    <p:sldId id="292" r:id="rId41"/>
    <p:sldId id="279" r:id="rId42"/>
    <p:sldId id="316" r:id="rId43"/>
    <p:sldId id="302" r:id="rId44"/>
    <p:sldId id="280" r:id="rId45"/>
    <p:sldId id="282" r:id="rId46"/>
    <p:sldId id="317" r:id="rId47"/>
    <p:sldId id="281" r:id="rId48"/>
    <p:sldId id="295" r:id="rId49"/>
    <p:sldId id="272" r:id="rId50"/>
    <p:sldId id="336" r:id="rId51"/>
    <p:sldId id="379" r:id="rId52"/>
    <p:sldId id="288" r:id="rId53"/>
    <p:sldId id="305" r:id="rId54"/>
    <p:sldId id="337" r:id="rId55"/>
    <p:sldId id="338" r:id="rId56"/>
    <p:sldId id="365" r:id="rId57"/>
    <p:sldId id="341" r:id="rId58"/>
    <p:sldId id="345" r:id="rId59"/>
    <p:sldId id="346" r:id="rId60"/>
    <p:sldId id="347" r:id="rId61"/>
    <p:sldId id="293" r:id="rId62"/>
    <p:sldId id="291" r:id="rId63"/>
    <p:sldId id="274" r:id="rId64"/>
    <p:sldId id="289" r:id="rId65"/>
    <p:sldId id="353" r:id="rId66"/>
    <p:sldId id="349" r:id="rId67"/>
    <p:sldId id="276" r:id="rId68"/>
    <p:sldId id="306" r:id="rId69"/>
    <p:sldId id="355" r:id="rId70"/>
    <p:sldId id="308" r:id="rId71"/>
    <p:sldId id="356" r:id="rId72"/>
    <p:sldId id="357" r:id="rId73"/>
    <p:sldId id="358" r:id="rId74"/>
    <p:sldId id="277" r:id="rId75"/>
    <p:sldId id="359" r:id="rId76"/>
    <p:sldId id="309" r:id="rId77"/>
    <p:sldId id="310" r:id="rId78"/>
    <p:sldId id="313" r:id="rId79"/>
    <p:sldId id="296" r:id="rId80"/>
    <p:sldId id="311" r:id="rId81"/>
    <p:sldId id="307" r:id="rId82"/>
    <p:sldId id="360" r:id="rId83"/>
    <p:sldId id="314" r:id="rId84"/>
    <p:sldId id="364" r:id="rId85"/>
    <p:sldId id="367" r:id="rId86"/>
    <p:sldId id="370" r:id="rId87"/>
    <p:sldId id="382" r:id="rId88"/>
    <p:sldId id="380" r:id="rId89"/>
    <p:sldId id="368" r:id="rId90"/>
    <p:sldId id="371" r:id="rId91"/>
    <p:sldId id="372" r:id="rId92"/>
    <p:sldId id="373" r:id="rId93"/>
    <p:sldId id="374" r:id="rId94"/>
    <p:sldId id="381" r:id="rId95"/>
    <p:sldId id="390" r:id="rId96"/>
    <p:sldId id="396" r:id="rId97"/>
  </p:sldIdLst>
  <p:sldSz cx="12192000" cy="68580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0AEFE7-0443-49D4-9D31-96DCC8351B02}" v="2" dt="2026-10-15T15:46:55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62" autoAdjust="0"/>
    <p:restoredTop sz="63636" autoAdjust="0"/>
  </p:normalViewPr>
  <p:slideViewPr>
    <p:cSldViewPr snapToGrid="0">
      <p:cViewPr varScale="1">
        <p:scale>
          <a:sx n="49" d="100"/>
          <a:sy n="49" d="100"/>
        </p:scale>
        <p:origin x="158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commentAuthors" Target="commentAuthors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FE27F3-6746-4E46-9120-44AC4F65C9D6}" type="doc">
      <dgm:prSet loTypeId="urn:microsoft.com/office/officeart/2018/5/layout/CenteredIconLabelDescriptionList" loCatId="icon" qsTypeId="urn:microsoft.com/office/officeart/2005/8/quickstyle/simple1#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2C392F3C-4DD9-4491-AF40-35D1EA0722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Atherosclerosis</a:t>
          </a:r>
        </a:p>
      </dgm:t>
    </dgm:pt>
    <dgm:pt modelId="{DFA24DC2-A3F1-46AD-9DD0-501E910AF19B}" type="parTrans" cxnId="{BBD36460-5120-4E15-A001-1958AD0269E5}">
      <dgm:prSet/>
      <dgm:spPr/>
      <dgm:t>
        <a:bodyPr/>
        <a:lstStyle/>
        <a:p>
          <a:endParaRPr lang="en-US"/>
        </a:p>
      </dgm:t>
    </dgm:pt>
    <dgm:pt modelId="{BC878B6A-EBE6-40A1-A299-6D109BF87512}" type="sibTrans" cxnId="{BBD36460-5120-4E15-A001-1958AD0269E5}">
      <dgm:prSet/>
      <dgm:spPr/>
      <dgm:t>
        <a:bodyPr/>
        <a:lstStyle/>
        <a:p>
          <a:endParaRPr lang="en-US"/>
        </a:p>
      </dgm:t>
    </dgm:pt>
    <dgm:pt modelId="{9E643380-2652-404D-B2E7-D513B2744D2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Lipoprotein Metabolism</a:t>
          </a:r>
        </a:p>
      </dgm:t>
    </dgm:pt>
    <dgm:pt modelId="{DC1CBCBE-07B2-46A1-9F27-C9C5BE4B9071}" type="parTrans" cxnId="{54B5C8FA-FE2A-44E6-B80C-A593B1117D93}">
      <dgm:prSet/>
      <dgm:spPr/>
      <dgm:t>
        <a:bodyPr/>
        <a:lstStyle/>
        <a:p>
          <a:endParaRPr lang="en-US"/>
        </a:p>
      </dgm:t>
    </dgm:pt>
    <dgm:pt modelId="{71FC307E-8FBA-47A9-A4D5-7680F289465D}" type="sibTrans" cxnId="{54B5C8FA-FE2A-44E6-B80C-A593B1117D93}">
      <dgm:prSet/>
      <dgm:spPr/>
      <dgm:t>
        <a:bodyPr/>
        <a:lstStyle/>
        <a:p>
          <a:endParaRPr lang="en-US"/>
        </a:p>
      </dgm:t>
    </dgm:pt>
    <dgm:pt modelId="{0FE2F106-7BE9-4C6C-9EFF-0A7C1FD990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is a lipoprotein</a:t>
          </a:r>
        </a:p>
      </dgm:t>
    </dgm:pt>
    <dgm:pt modelId="{09F107DE-D890-46F1-A370-CF982C307F72}" type="parTrans" cxnId="{BEDF876C-D0EA-41B8-82F4-9EAC7558E835}">
      <dgm:prSet/>
      <dgm:spPr/>
      <dgm:t>
        <a:bodyPr/>
        <a:lstStyle/>
        <a:p>
          <a:endParaRPr lang="en-US"/>
        </a:p>
      </dgm:t>
    </dgm:pt>
    <dgm:pt modelId="{56E29982-A4AF-43AE-90EC-C55CB53CDD0C}" type="sibTrans" cxnId="{BEDF876C-D0EA-41B8-82F4-9EAC7558E835}">
      <dgm:prSet/>
      <dgm:spPr/>
      <dgm:t>
        <a:bodyPr/>
        <a:lstStyle/>
        <a:p>
          <a:endParaRPr lang="en-US"/>
        </a:p>
      </dgm:t>
    </dgm:pt>
    <dgm:pt modelId="{F89B4BDA-C807-4978-AA47-81BCD59EE0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FFA mobilization</a:t>
          </a:r>
        </a:p>
      </dgm:t>
    </dgm:pt>
    <dgm:pt modelId="{905DBC4F-CA91-428F-A21C-BFB72147869C}" type="parTrans" cxnId="{0A438E32-4C22-41BD-8428-FA8DEAE6E1C6}">
      <dgm:prSet/>
      <dgm:spPr/>
      <dgm:t>
        <a:bodyPr/>
        <a:lstStyle/>
        <a:p>
          <a:endParaRPr lang="en-US"/>
        </a:p>
      </dgm:t>
    </dgm:pt>
    <dgm:pt modelId="{10DAC259-DC0E-42A2-9E44-3894C3C005BA}" type="sibTrans" cxnId="{0A438E32-4C22-41BD-8428-FA8DEAE6E1C6}">
      <dgm:prSet/>
      <dgm:spPr/>
      <dgm:t>
        <a:bodyPr/>
        <a:lstStyle/>
        <a:p>
          <a:endParaRPr lang="en-US"/>
        </a:p>
      </dgm:t>
    </dgm:pt>
    <dgm:pt modelId="{381FC1E2-AB0D-4784-84D1-E8F106FA1C52}">
      <dgm:prSet/>
      <dgm:spPr/>
      <dgm:t>
        <a:bodyPr/>
        <a:lstStyle/>
        <a:p>
          <a:r>
            <a:rPr lang="en-US"/>
            <a:t>Ingestion</a:t>
          </a:r>
        </a:p>
      </dgm:t>
    </dgm:pt>
    <dgm:pt modelId="{8A2E58E8-CEF4-4DA5-8FE0-A770D5DF5C7D}" type="parTrans" cxnId="{6C1F7CD4-820A-4A54-B040-FB1C784DF74D}">
      <dgm:prSet/>
      <dgm:spPr/>
      <dgm:t>
        <a:bodyPr/>
        <a:lstStyle/>
        <a:p>
          <a:endParaRPr lang="en-US"/>
        </a:p>
      </dgm:t>
    </dgm:pt>
    <dgm:pt modelId="{C6218E74-6AAD-4995-BC40-885A4ADEEAC2}" type="sibTrans" cxnId="{6C1F7CD4-820A-4A54-B040-FB1C784DF74D}">
      <dgm:prSet/>
      <dgm:spPr/>
      <dgm:t>
        <a:bodyPr/>
        <a:lstStyle/>
        <a:p>
          <a:endParaRPr lang="en-US"/>
        </a:p>
      </dgm:t>
    </dgm:pt>
    <dgm:pt modelId="{84CF6E7F-F545-4BB4-9B21-E99169E8D7B4}">
      <dgm:prSet/>
      <dgm:spPr/>
      <dgm:t>
        <a:bodyPr/>
        <a:lstStyle/>
        <a:p>
          <a:r>
            <a:rPr lang="en-US"/>
            <a:t>From Adipose Stores</a:t>
          </a:r>
        </a:p>
      </dgm:t>
    </dgm:pt>
    <dgm:pt modelId="{189B2909-22C1-450A-A897-8BE60DCF3B3F}" type="parTrans" cxnId="{FCB9D40B-1F92-4E5D-8B12-3998D474092B}">
      <dgm:prSet/>
      <dgm:spPr/>
      <dgm:t>
        <a:bodyPr/>
        <a:lstStyle/>
        <a:p>
          <a:endParaRPr lang="en-US"/>
        </a:p>
      </dgm:t>
    </dgm:pt>
    <dgm:pt modelId="{09612249-B219-4858-9CCC-6F7349C28632}" type="sibTrans" cxnId="{FCB9D40B-1F92-4E5D-8B12-3998D474092B}">
      <dgm:prSet/>
      <dgm:spPr/>
      <dgm:t>
        <a:bodyPr/>
        <a:lstStyle/>
        <a:p>
          <a:endParaRPr lang="en-US"/>
        </a:p>
      </dgm:t>
    </dgm:pt>
    <dgm:pt modelId="{5120B043-2FEF-425C-8E80-2FAB8BB2478D}">
      <dgm:prSet/>
      <dgm:spPr/>
      <dgm:t>
        <a:bodyPr/>
        <a:lstStyle/>
        <a:p>
          <a:r>
            <a:rPr lang="en-US"/>
            <a:t>Liver Production</a:t>
          </a:r>
        </a:p>
      </dgm:t>
    </dgm:pt>
    <dgm:pt modelId="{6A2E4F17-45EF-4DA7-9226-5C981652F910}" type="parTrans" cxnId="{4E60A62A-2C66-44D6-BF2C-4D1AFB0A7DB1}">
      <dgm:prSet/>
      <dgm:spPr/>
      <dgm:t>
        <a:bodyPr/>
        <a:lstStyle/>
        <a:p>
          <a:endParaRPr lang="en-US"/>
        </a:p>
      </dgm:t>
    </dgm:pt>
    <dgm:pt modelId="{25CD1628-5EB1-4762-8ED6-6EF67E5BC360}" type="sibTrans" cxnId="{4E60A62A-2C66-44D6-BF2C-4D1AFB0A7DB1}">
      <dgm:prSet/>
      <dgm:spPr/>
      <dgm:t>
        <a:bodyPr/>
        <a:lstStyle/>
        <a:p>
          <a:endParaRPr lang="en-US"/>
        </a:p>
      </dgm:t>
    </dgm:pt>
    <dgm:pt modelId="{BE108E3D-E65A-44FB-AE09-750B1952FA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Cholesterol mobilization</a:t>
          </a:r>
        </a:p>
      </dgm:t>
    </dgm:pt>
    <dgm:pt modelId="{25F4AEDA-1E31-41A1-9F89-0C99A570808A}" type="parTrans" cxnId="{77CED80F-C176-4166-A72D-171A72EC0353}">
      <dgm:prSet/>
      <dgm:spPr/>
      <dgm:t>
        <a:bodyPr/>
        <a:lstStyle/>
        <a:p>
          <a:endParaRPr lang="en-US"/>
        </a:p>
      </dgm:t>
    </dgm:pt>
    <dgm:pt modelId="{41B926DD-38CD-4A32-995B-829D059D0513}" type="sibTrans" cxnId="{77CED80F-C176-4166-A72D-171A72EC0353}">
      <dgm:prSet/>
      <dgm:spPr/>
      <dgm:t>
        <a:bodyPr/>
        <a:lstStyle/>
        <a:p>
          <a:endParaRPr lang="en-US"/>
        </a:p>
      </dgm:t>
    </dgm:pt>
    <dgm:pt modelId="{A0DF2878-78F0-4C1C-B58F-753DE1F4F545}">
      <dgm:prSet/>
      <dgm:spPr/>
      <dgm:t>
        <a:bodyPr/>
        <a:lstStyle/>
        <a:p>
          <a:r>
            <a:rPr lang="en-US"/>
            <a:t>Ingestion</a:t>
          </a:r>
        </a:p>
      </dgm:t>
    </dgm:pt>
    <dgm:pt modelId="{74E9518B-F063-412F-9D23-9858C47D7F37}" type="parTrans" cxnId="{96A7B9AA-08F5-4700-ABB7-CE93B46E27AB}">
      <dgm:prSet/>
      <dgm:spPr/>
      <dgm:t>
        <a:bodyPr/>
        <a:lstStyle/>
        <a:p>
          <a:endParaRPr lang="en-US"/>
        </a:p>
      </dgm:t>
    </dgm:pt>
    <dgm:pt modelId="{C60451EB-90D6-474A-935C-4CAC78D5B416}" type="sibTrans" cxnId="{96A7B9AA-08F5-4700-ABB7-CE93B46E27AB}">
      <dgm:prSet/>
      <dgm:spPr/>
      <dgm:t>
        <a:bodyPr/>
        <a:lstStyle/>
        <a:p>
          <a:endParaRPr lang="en-US"/>
        </a:p>
      </dgm:t>
    </dgm:pt>
    <dgm:pt modelId="{38A3E00A-0397-41E2-9223-C8859F517EDE}">
      <dgm:prSet/>
      <dgm:spPr/>
      <dgm:t>
        <a:bodyPr/>
        <a:lstStyle/>
        <a:p>
          <a:r>
            <a:rPr lang="en-US"/>
            <a:t>Liver Production</a:t>
          </a:r>
        </a:p>
      </dgm:t>
    </dgm:pt>
    <dgm:pt modelId="{66E03238-BFE2-499B-974E-987877D0FDF2}" type="parTrans" cxnId="{72102812-74D0-43C4-BBEE-79020EDBEEA6}">
      <dgm:prSet/>
      <dgm:spPr/>
      <dgm:t>
        <a:bodyPr/>
        <a:lstStyle/>
        <a:p>
          <a:endParaRPr lang="en-US"/>
        </a:p>
      </dgm:t>
    </dgm:pt>
    <dgm:pt modelId="{92EE3D00-4B15-4954-8925-BC45FCFBFCDA}" type="sibTrans" cxnId="{72102812-74D0-43C4-BBEE-79020EDBEEA6}">
      <dgm:prSet/>
      <dgm:spPr/>
      <dgm:t>
        <a:bodyPr/>
        <a:lstStyle/>
        <a:p>
          <a:endParaRPr lang="en-US"/>
        </a:p>
      </dgm:t>
    </dgm:pt>
    <dgm:pt modelId="{CD052090-AFDC-41A7-8A0B-D3119EDA144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Dyslipidemia</a:t>
          </a:r>
        </a:p>
      </dgm:t>
    </dgm:pt>
    <dgm:pt modelId="{C9311EAE-4D05-47D3-ACE5-754F7E7C6EBD}" type="parTrans" cxnId="{9A36263C-D0B8-48A4-82B2-4F5AAD4241F7}">
      <dgm:prSet/>
      <dgm:spPr/>
      <dgm:t>
        <a:bodyPr/>
        <a:lstStyle/>
        <a:p>
          <a:endParaRPr lang="en-US"/>
        </a:p>
      </dgm:t>
    </dgm:pt>
    <dgm:pt modelId="{535BEDF5-303D-4380-86EF-A4ADEE30A060}" type="sibTrans" cxnId="{9A36263C-D0B8-48A4-82B2-4F5AAD4241F7}">
      <dgm:prSet/>
      <dgm:spPr/>
      <dgm:t>
        <a:bodyPr/>
        <a:lstStyle/>
        <a:p>
          <a:endParaRPr lang="en-US"/>
        </a:p>
      </dgm:t>
    </dgm:pt>
    <dgm:pt modelId="{C2158241-0CFE-4D05-BBB4-BDDD5DCE74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Primary vs Secondary Prevention</a:t>
          </a:r>
        </a:p>
      </dgm:t>
    </dgm:pt>
    <dgm:pt modelId="{530C4D6B-F1F0-4EE0-B1F1-B9AC1F5BF3E0}" type="parTrans" cxnId="{E4E41C3D-917C-4EC5-A909-BCE4E52FFC98}">
      <dgm:prSet/>
      <dgm:spPr/>
      <dgm:t>
        <a:bodyPr/>
        <a:lstStyle/>
        <a:p>
          <a:endParaRPr lang="en-US"/>
        </a:p>
      </dgm:t>
    </dgm:pt>
    <dgm:pt modelId="{7D7E82A1-5F46-46BF-8009-55D134EA6697}" type="sibTrans" cxnId="{E4E41C3D-917C-4EC5-A909-BCE4E52FFC98}">
      <dgm:prSet/>
      <dgm:spPr/>
      <dgm:t>
        <a:bodyPr/>
        <a:lstStyle/>
        <a:p>
          <a:endParaRPr lang="en-US"/>
        </a:p>
      </dgm:t>
    </dgm:pt>
    <dgm:pt modelId="{5EAFB78F-5A9D-4A1E-BAC8-C9020FC642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CAD/HLD Risk Factors</a:t>
          </a:r>
        </a:p>
      </dgm:t>
    </dgm:pt>
    <dgm:pt modelId="{382A687E-DB78-4F0A-BBBA-00354526E4BB}" type="parTrans" cxnId="{32A31B88-DC95-4934-BC59-5A4B0E42A091}">
      <dgm:prSet/>
      <dgm:spPr/>
      <dgm:t>
        <a:bodyPr/>
        <a:lstStyle/>
        <a:p>
          <a:endParaRPr lang="en-US"/>
        </a:p>
      </dgm:t>
    </dgm:pt>
    <dgm:pt modelId="{FE08BFEA-9212-426D-A6C8-D967053A4245}" type="sibTrans" cxnId="{32A31B88-DC95-4934-BC59-5A4B0E42A091}">
      <dgm:prSet/>
      <dgm:spPr/>
      <dgm:t>
        <a:bodyPr/>
        <a:lstStyle/>
        <a:p>
          <a:endParaRPr lang="en-US"/>
        </a:p>
      </dgm:t>
    </dgm:pt>
    <dgm:pt modelId="{F13C6F35-C9E0-4C74-BF95-4393B0009E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Clinical Features</a:t>
          </a:r>
        </a:p>
      </dgm:t>
    </dgm:pt>
    <dgm:pt modelId="{9EF9E4A9-E702-4B30-A8F7-6982C70F0229}" type="parTrans" cxnId="{F313EDE2-DBA0-4F56-BD49-C8BC9EFBDDF9}">
      <dgm:prSet/>
      <dgm:spPr/>
      <dgm:t>
        <a:bodyPr/>
        <a:lstStyle/>
        <a:p>
          <a:endParaRPr lang="en-US"/>
        </a:p>
      </dgm:t>
    </dgm:pt>
    <dgm:pt modelId="{CE38742D-E5F6-43E7-8BA9-D0E394BA4DA4}" type="sibTrans" cxnId="{F313EDE2-DBA0-4F56-BD49-C8BC9EFBDDF9}">
      <dgm:prSet/>
      <dgm:spPr/>
      <dgm:t>
        <a:bodyPr/>
        <a:lstStyle/>
        <a:p>
          <a:endParaRPr lang="en-US"/>
        </a:p>
      </dgm:t>
    </dgm:pt>
    <dgm:pt modelId="{FBEA3F08-1271-4290-AB7E-273F7BEEEA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Genetic</a:t>
          </a:r>
        </a:p>
      </dgm:t>
    </dgm:pt>
    <dgm:pt modelId="{CA6E1A4D-E604-4FB7-9747-C5B127B45F6A}" type="parTrans" cxnId="{3F87D33E-5AE4-4260-9ECF-61452ECD8587}">
      <dgm:prSet/>
      <dgm:spPr/>
      <dgm:t>
        <a:bodyPr/>
        <a:lstStyle/>
        <a:p>
          <a:endParaRPr lang="en-US"/>
        </a:p>
      </dgm:t>
    </dgm:pt>
    <dgm:pt modelId="{38C306D1-F391-4134-886B-D7DE8F37075C}" type="sibTrans" cxnId="{3F87D33E-5AE4-4260-9ECF-61452ECD8587}">
      <dgm:prSet/>
      <dgm:spPr/>
      <dgm:t>
        <a:bodyPr/>
        <a:lstStyle/>
        <a:p>
          <a:endParaRPr lang="en-US"/>
        </a:p>
      </dgm:t>
    </dgm:pt>
    <dgm:pt modelId="{7B4EB614-8E2C-427A-835E-7FA40304BFD1}">
      <dgm:prSet/>
      <dgm:spPr/>
      <dgm:t>
        <a:bodyPr/>
        <a:lstStyle/>
        <a:p>
          <a:r>
            <a:rPr lang="en-US"/>
            <a:t>Familial Hypercholesterolemia</a:t>
          </a:r>
        </a:p>
      </dgm:t>
    </dgm:pt>
    <dgm:pt modelId="{C94EF9E7-EE90-4009-B44A-CA3A625B13E4}" type="parTrans" cxnId="{B3E4282E-5C13-454C-8902-A3FB3C5171B1}">
      <dgm:prSet/>
      <dgm:spPr/>
      <dgm:t>
        <a:bodyPr/>
        <a:lstStyle/>
        <a:p>
          <a:endParaRPr lang="en-US"/>
        </a:p>
      </dgm:t>
    </dgm:pt>
    <dgm:pt modelId="{195DA35C-EA46-4901-82D8-05819A522F51}" type="sibTrans" cxnId="{B3E4282E-5C13-454C-8902-A3FB3C5171B1}">
      <dgm:prSet/>
      <dgm:spPr/>
      <dgm:t>
        <a:bodyPr/>
        <a:lstStyle/>
        <a:p>
          <a:endParaRPr lang="en-US"/>
        </a:p>
      </dgm:t>
    </dgm:pt>
    <dgm:pt modelId="{F385A583-7850-4375-9C9A-3D4BB5060ACB}">
      <dgm:prSet/>
      <dgm:spPr/>
      <dgm:t>
        <a:bodyPr/>
        <a:lstStyle/>
        <a:p>
          <a:r>
            <a:rPr lang="en-US" dirty="0"/>
            <a:t>Familial Hypertriglyceridemia</a:t>
          </a:r>
        </a:p>
      </dgm:t>
    </dgm:pt>
    <dgm:pt modelId="{ADA7D7D5-8F2A-40F0-822F-FC85401D7038}" type="parTrans" cxnId="{D04405EF-9642-4F93-9B01-573023C823A3}">
      <dgm:prSet/>
      <dgm:spPr/>
      <dgm:t>
        <a:bodyPr/>
        <a:lstStyle/>
        <a:p>
          <a:endParaRPr lang="en-US"/>
        </a:p>
      </dgm:t>
    </dgm:pt>
    <dgm:pt modelId="{F9EC7331-E5F9-4B01-B831-F9D3358A940B}" type="sibTrans" cxnId="{D04405EF-9642-4F93-9B01-573023C823A3}">
      <dgm:prSet/>
      <dgm:spPr/>
      <dgm:t>
        <a:bodyPr/>
        <a:lstStyle/>
        <a:p>
          <a:endParaRPr lang="en-US"/>
        </a:p>
      </dgm:t>
    </dgm:pt>
    <dgm:pt modelId="{37990ADA-EC39-450D-B50A-EBB015B05AE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Dyslipidemia Diagnostics</a:t>
          </a:r>
        </a:p>
      </dgm:t>
    </dgm:pt>
    <dgm:pt modelId="{1713B5E9-9DCE-4206-8457-F2E051329C46}" type="parTrans" cxnId="{9E8689E6-5E2A-4EA6-90DD-323C0C8A51BD}">
      <dgm:prSet/>
      <dgm:spPr/>
      <dgm:t>
        <a:bodyPr/>
        <a:lstStyle/>
        <a:p>
          <a:endParaRPr lang="en-US"/>
        </a:p>
      </dgm:t>
    </dgm:pt>
    <dgm:pt modelId="{5B04455F-7132-42AE-A08D-D9E40A61762D}" type="sibTrans" cxnId="{9E8689E6-5E2A-4EA6-90DD-323C0C8A51BD}">
      <dgm:prSet/>
      <dgm:spPr/>
      <dgm:t>
        <a:bodyPr/>
        <a:lstStyle/>
        <a:p>
          <a:endParaRPr lang="en-US"/>
        </a:p>
      </dgm:t>
    </dgm:pt>
    <dgm:pt modelId="{9836081F-7DC5-4FB2-9959-2AA07B462C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Lipid Panel</a:t>
          </a:r>
        </a:p>
      </dgm:t>
    </dgm:pt>
    <dgm:pt modelId="{10DE6A14-B3B8-441B-AC7E-E370E68D7058}" type="parTrans" cxnId="{D2098463-544D-47E7-B983-0097EB2FABFD}">
      <dgm:prSet/>
      <dgm:spPr/>
      <dgm:t>
        <a:bodyPr/>
        <a:lstStyle/>
        <a:p>
          <a:endParaRPr lang="en-US"/>
        </a:p>
      </dgm:t>
    </dgm:pt>
    <dgm:pt modelId="{FBF35C80-9638-4D39-84C1-91096DB00FF3}" type="sibTrans" cxnId="{D2098463-544D-47E7-B983-0097EB2FABFD}">
      <dgm:prSet/>
      <dgm:spPr/>
      <dgm:t>
        <a:bodyPr/>
        <a:lstStyle/>
        <a:p>
          <a:endParaRPr lang="en-US"/>
        </a:p>
      </dgm:t>
    </dgm:pt>
    <dgm:pt modelId="{E4876E2B-A508-4A65-A202-8941C15A3F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NMR</a:t>
          </a:r>
        </a:p>
      </dgm:t>
    </dgm:pt>
    <dgm:pt modelId="{C622E156-BF91-4043-B519-FAFFB4B7F99C}" type="parTrans" cxnId="{8E80AA66-66A0-4999-884A-20F37FE7BC33}">
      <dgm:prSet/>
      <dgm:spPr/>
      <dgm:t>
        <a:bodyPr/>
        <a:lstStyle/>
        <a:p>
          <a:endParaRPr lang="en-US"/>
        </a:p>
      </dgm:t>
    </dgm:pt>
    <dgm:pt modelId="{AD0684F1-7716-4A08-A758-6A60FBCE933A}" type="sibTrans" cxnId="{8E80AA66-66A0-4999-884A-20F37FE7BC33}">
      <dgm:prSet/>
      <dgm:spPr/>
      <dgm:t>
        <a:bodyPr/>
        <a:lstStyle/>
        <a:p>
          <a:endParaRPr lang="en-US"/>
        </a:p>
      </dgm:t>
    </dgm:pt>
    <dgm:pt modelId="{ABC1BD63-B4A0-452B-8B2B-4BCD5C27E0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Hs CRP</a:t>
          </a:r>
        </a:p>
      </dgm:t>
    </dgm:pt>
    <dgm:pt modelId="{E5E6E117-8C0E-4013-B7C4-4A5F71588AE1}" type="parTrans" cxnId="{28A8D394-EB97-4A47-A7BE-B7C59075D5C9}">
      <dgm:prSet/>
      <dgm:spPr/>
      <dgm:t>
        <a:bodyPr/>
        <a:lstStyle/>
        <a:p>
          <a:endParaRPr lang="en-US"/>
        </a:p>
      </dgm:t>
    </dgm:pt>
    <dgm:pt modelId="{DE778FFE-8E0E-4323-8A1B-32D319F94A98}" type="sibTrans" cxnId="{28A8D394-EB97-4A47-A7BE-B7C59075D5C9}">
      <dgm:prSet/>
      <dgm:spPr/>
      <dgm:t>
        <a:bodyPr/>
        <a:lstStyle/>
        <a:p>
          <a:endParaRPr lang="en-US"/>
        </a:p>
      </dgm:t>
    </dgm:pt>
    <dgm:pt modelId="{BF7FD8C9-4B7A-47FD-B47B-AFD94355B5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CAC</a:t>
          </a:r>
        </a:p>
      </dgm:t>
    </dgm:pt>
    <dgm:pt modelId="{1D7C22E2-CF8E-4508-8F30-56C9B7FF6A55}" type="parTrans" cxnId="{2B29F83C-2148-4E8F-9F15-05A5EADEC003}">
      <dgm:prSet/>
      <dgm:spPr/>
      <dgm:t>
        <a:bodyPr/>
        <a:lstStyle/>
        <a:p>
          <a:endParaRPr lang="en-US"/>
        </a:p>
      </dgm:t>
    </dgm:pt>
    <dgm:pt modelId="{B9FA0847-8847-4319-9D8B-D1CA605F8040}" type="sibTrans" cxnId="{2B29F83C-2148-4E8F-9F15-05A5EADEC003}">
      <dgm:prSet/>
      <dgm:spPr/>
      <dgm:t>
        <a:bodyPr/>
        <a:lstStyle/>
        <a:p>
          <a:endParaRPr lang="en-US"/>
        </a:p>
      </dgm:t>
    </dgm:pt>
    <dgm:pt modelId="{FBCA3F33-5DE5-4744-81F3-32B3D924CC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Timing appropriate labs/diagnostics</a:t>
          </a:r>
        </a:p>
      </dgm:t>
    </dgm:pt>
    <dgm:pt modelId="{04A46F0A-A091-403F-BFBE-416771775A7A}" type="parTrans" cxnId="{EFFC8362-14FA-4C01-BC99-2DDA36FFB1CB}">
      <dgm:prSet/>
      <dgm:spPr/>
      <dgm:t>
        <a:bodyPr/>
        <a:lstStyle/>
        <a:p>
          <a:endParaRPr lang="en-US"/>
        </a:p>
      </dgm:t>
    </dgm:pt>
    <dgm:pt modelId="{A0DD0E5B-D2C7-4B16-BA29-D9D5A02ADD19}" type="sibTrans" cxnId="{EFFC8362-14FA-4C01-BC99-2DDA36FFB1CB}">
      <dgm:prSet/>
      <dgm:spPr/>
      <dgm:t>
        <a:bodyPr/>
        <a:lstStyle/>
        <a:p>
          <a:endParaRPr lang="en-US"/>
        </a:p>
      </dgm:t>
    </dgm:pt>
    <dgm:pt modelId="{A1244B01-A0C7-43E3-BAE8-0334C7BCC5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Diagnostic Interpretation (Framingham)</a:t>
          </a:r>
        </a:p>
      </dgm:t>
    </dgm:pt>
    <dgm:pt modelId="{FCA439BD-F41C-498E-AE7D-FD1453056C40}" type="parTrans" cxnId="{97233B64-4D9C-4B6F-B1E5-A52054E08CB2}">
      <dgm:prSet/>
      <dgm:spPr/>
      <dgm:t>
        <a:bodyPr/>
        <a:lstStyle/>
        <a:p>
          <a:endParaRPr lang="en-US"/>
        </a:p>
      </dgm:t>
    </dgm:pt>
    <dgm:pt modelId="{F15330B7-6BF3-4EF1-9428-54566DA41AC4}" type="sibTrans" cxnId="{97233B64-4D9C-4B6F-B1E5-A52054E08CB2}">
      <dgm:prSet/>
      <dgm:spPr/>
      <dgm:t>
        <a:bodyPr/>
        <a:lstStyle/>
        <a:p>
          <a:endParaRPr lang="en-US"/>
        </a:p>
      </dgm:t>
    </dgm:pt>
    <dgm:pt modelId="{4CFF97A2-6318-4579-99D3-27D112DE23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Algorithm</a:t>
          </a:r>
        </a:p>
      </dgm:t>
    </dgm:pt>
    <dgm:pt modelId="{0B0BC56C-2E40-43B5-83D6-5ADC5E04CA81}" type="parTrans" cxnId="{3857EB64-97AF-4A4F-8CF2-5CB923608070}">
      <dgm:prSet/>
      <dgm:spPr/>
      <dgm:t>
        <a:bodyPr/>
        <a:lstStyle/>
        <a:p>
          <a:endParaRPr lang="en-US"/>
        </a:p>
      </dgm:t>
    </dgm:pt>
    <dgm:pt modelId="{3322D567-1DAD-4813-9BD1-435E6F07A525}" type="sibTrans" cxnId="{3857EB64-97AF-4A4F-8CF2-5CB923608070}">
      <dgm:prSet/>
      <dgm:spPr/>
      <dgm:t>
        <a:bodyPr/>
        <a:lstStyle/>
        <a:p>
          <a:endParaRPr lang="en-US"/>
        </a:p>
      </dgm:t>
    </dgm:pt>
    <dgm:pt modelId="{38AB7671-EDFD-4AFC-B7E0-235C79DBD81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Dyslipidemia Treatment</a:t>
          </a:r>
        </a:p>
      </dgm:t>
    </dgm:pt>
    <dgm:pt modelId="{A2CD5649-F6CC-42D0-8FDF-A93525B77A9B}" type="parTrans" cxnId="{A3429456-2C93-41FB-8933-B69844920A2E}">
      <dgm:prSet/>
      <dgm:spPr/>
      <dgm:t>
        <a:bodyPr/>
        <a:lstStyle/>
        <a:p>
          <a:endParaRPr lang="en-US"/>
        </a:p>
      </dgm:t>
    </dgm:pt>
    <dgm:pt modelId="{E28ADCC8-FFC4-44E6-9DD6-04915F4133E5}" type="sibTrans" cxnId="{A3429456-2C93-41FB-8933-B69844920A2E}">
      <dgm:prSet/>
      <dgm:spPr/>
      <dgm:t>
        <a:bodyPr/>
        <a:lstStyle/>
        <a:p>
          <a:endParaRPr lang="en-US"/>
        </a:p>
      </dgm:t>
    </dgm:pt>
    <dgm:pt modelId="{4C9CD692-9526-47D8-B223-E067D4A4D3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Lifestyle</a:t>
          </a:r>
        </a:p>
      </dgm:t>
    </dgm:pt>
    <dgm:pt modelId="{2B6D3E3D-13A4-4855-BC54-7AF62E193627}" type="parTrans" cxnId="{11C110FF-CDE5-4981-A95A-3BB90D2EBA8F}">
      <dgm:prSet/>
      <dgm:spPr/>
      <dgm:t>
        <a:bodyPr/>
        <a:lstStyle/>
        <a:p>
          <a:endParaRPr lang="en-US"/>
        </a:p>
      </dgm:t>
    </dgm:pt>
    <dgm:pt modelId="{31EACB6A-E0D1-480E-ABFF-D7849A3B977E}" type="sibTrans" cxnId="{11C110FF-CDE5-4981-A95A-3BB90D2EBA8F}">
      <dgm:prSet/>
      <dgm:spPr/>
      <dgm:t>
        <a:bodyPr/>
        <a:lstStyle/>
        <a:p>
          <a:endParaRPr lang="en-US"/>
        </a:p>
      </dgm:t>
    </dgm:pt>
    <dgm:pt modelId="{A6642DA3-0F30-4EBE-A184-27F7F71A78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Medications</a:t>
          </a:r>
        </a:p>
      </dgm:t>
    </dgm:pt>
    <dgm:pt modelId="{AD774E8D-F2D1-4427-98D6-BF15A57C5620}" type="parTrans" cxnId="{9BB37721-681E-4D53-B82C-A93A89EE159B}">
      <dgm:prSet/>
      <dgm:spPr/>
      <dgm:t>
        <a:bodyPr/>
        <a:lstStyle/>
        <a:p>
          <a:endParaRPr lang="en-US"/>
        </a:p>
      </dgm:t>
    </dgm:pt>
    <dgm:pt modelId="{37BC1923-4A34-4A60-9DFA-0C15475B7430}" type="sibTrans" cxnId="{9BB37721-681E-4D53-B82C-A93A89EE159B}">
      <dgm:prSet/>
      <dgm:spPr/>
      <dgm:t>
        <a:bodyPr/>
        <a:lstStyle/>
        <a:p>
          <a:endParaRPr lang="en-US"/>
        </a:p>
      </dgm:t>
    </dgm:pt>
    <dgm:pt modelId="{FA1486E6-97C4-44FD-94F7-7F6BDE88E4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Algorithm</a:t>
          </a:r>
        </a:p>
      </dgm:t>
    </dgm:pt>
    <dgm:pt modelId="{888593EA-9D92-4AB3-AE3A-7C0EBCC63448}" type="parTrans" cxnId="{6C529035-870A-43E7-87E2-3E78B55A1DB1}">
      <dgm:prSet/>
      <dgm:spPr/>
      <dgm:t>
        <a:bodyPr/>
        <a:lstStyle/>
        <a:p>
          <a:endParaRPr lang="en-US"/>
        </a:p>
      </dgm:t>
    </dgm:pt>
    <dgm:pt modelId="{FA843F93-4B75-4526-BBDB-FBDC0BE00C04}" type="sibTrans" cxnId="{6C529035-870A-43E7-87E2-3E78B55A1DB1}">
      <dgm:prSet/>
      <dgm:spPr/>
      <dgm:t>
        <a:bodyPr/>
        <a:lstStyle/>
        <a:p>
          <a:endParaRPr lang="en-US"/>
        </a:p>
      </dgm:t>
    </dgm:pt>
    <dgm:pt modelId="{E710A32F-58B8-48AB-8B40-A1BFA0BCB1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Follow Up</a:t>
          </a:r>
        </a:p>
      </dgm:t>
    </dgm:pt>
    <dgm:pt modelId="{F73B2A50-9864-47AE-AC13-2959C7388D48}" type="parTrans" cxnId="{15615C5F-8D96-453B-A59B-091A15064EEB}">
      <dgm:prSet/>
      <dgm:spPr/>
      <dgm:t>
        <a:bodyPr/>
        <a:lstStyle/>
        <a:p>
          <a:endParaRPr lang="en-US"/>
        </a:p>
      </dgm:t>
    </dgm:pt>
    <dgm:pt modelId="{49BC6804-B739-4F0D-926B-088F5B46839E}" type="sibTrans" cxnId="{15615C5F-8D96-453B-A59B-091A15064EEB}">
      <dgm:prSet/>
      <dgm:spPr/>
      <dgm:t>
        <a:bodyPr/>
        <a:lstStyle/>
        <a:p>
          <a:endParaRPr lang="en-US"/>
        </a:p>
      </dgm:t>
    </dgm:pt>
    <dgm:pt modelId="{22192C10-FEBE-4E0D-B12E-D949EA312408}" type="pres">
      <dgm:prSet presAssocID="{ACFE27F3-6746-4E46-9120-44AC4F65C9D6}" presName="root" presStyleCnt="0">
        <dgm:presLayoutVars>
          <dgm:dir/>
          <dgm:resizeHandles val="exact"/>
        </dgm:presLayoutVars>
      </dgm:prSet>
      <dgm:spPr/>
    </dgm:pt>
    <dgm:pt modelId="{D0ACACDF-998C-45F8-BDC3-918C217EB5F3}" type="pres">
      <dgm:prSet presAssocID="{2C392F3C-4DD9-4491-AF40-35D1EA0722F8}" presName="compNode" presStyleCnt="0"/>
      <dgm:spPr/>
    </dgm:pt>
    <dgm:pt modelId="{BDDF707A-ED45-4F95-9486-B793F5E08392}" type="pres">
      <dgm:prSet presAssocID="{2C392F3C-4DD9-4491-AF40-35D1EA0722F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: Slight curve"/>
        </a:ext>
      </dgm:extLst>
    </dgm:pt>
    <dgm:pt modelId="{5ACFAB6E-48D7-4876-BA93-DA1345D88B23}" type="pres">
      <dgm:prSet presAssocID="{2C392F3C-4DD9-4491-AF40-35D1EA0722F8}" presName="iconSpace" presStyleCnt="0"/>
      <dgm:spPr/>
    </dgm:pt>
    <dgm:pt modelId="{ACD49464-8514-4834-858B-09B578416FDC}" type="pres">
      <dgm:prSet presAssocID="{2C392F3C-4DD9-4491-AF40-35D1EA0722F8}" presName="parTx" presStyleLbl="revTx" presStyleIdx="0" presStyleCnt="10">
        <dgm:presLayoutVars>
          <dgm:chMax val="0"/>
          <dgm:chPref val="0"/>
        </dgm:presLayoutVars>
      </dgm:prSet>
      <dgm:spPr/>
    </dgm:pt>
    <dgm:pt modelId="{6E59B345-D6F4-4D6C-BB4D-9AC8DBC5453D}" type="pres">
      <dgm:prSet presAssocID="{2C392F3C-4DD9-4491-AF40-35D1EA0722F8}" presName="txSpace" presStyleCnt="0"/>
      <dgm:spPr/>
    </dgm:pt>
    <dgm:pt modelId="{B7ED360C-4D6C-4AE2-9475-A9535D06A7C8}" type="pres">
      <dgm:prSet presAssocID="{2C392F3C-4DD9-4491-AF40-35D1EA0722F8}" presName="desTx" presStyleLbl="revTx" presStyleIdx="1" presStyleCnt="10">
        <dgm:presLayoutVars/>
      </dgm:prSet>
      <dgm:spPr/>
    </dgm:pt>
    <dgm:pt modelId="{07C1415D-9347-4223-8041-C6265979F8AC}" type="pres">
      <dgm:prSet presAssocID="{BC878B6A-EBE6-40A1-A299-6D109BF87512}" presName="sibTrans" presStyleCnt="0"/>
      <dgm:spPr/>
    </dgm:pt>
    <dgm:pt modelId="{F8393A3B-3749-4F7B-97EC-12C20C36EBBF}" type="pres">
      <dgm:prSet presAssocID="{9E643380-2652-404D-B2E7-D513B2744D24}" presName="compNode" presStyleCnt="0"/>
      <dgm:spPr/>
    </dgm:pt>
    <dgm:pt modelId="{9FE782C2-7222-43E2-986D-A150E83B0079}" type="pres">
      <dgm:prSet presAssocID="{9E643380-2652-404D-B2E7-D513B2744D2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e Arrow: Straight"/>
        </a:ext>
      </dgm:extLst>
    </dgm:pt>
    <dgm:pt modelId="{23C8D605-5072-4521-9E1C-F8319A40650F}" type="pres">
      <dgm:prSet presAssocID="{9E643380-2652-404D-B2E7-D513B2744D24}" presName="iconSpace" presStyleCnt="0"/>
      <dgm:spPr/>
    </dgm:pt>
    <dgm:pt modelId="{8042C6A2-106F-4F2D-990D-692FF8E733F6}" type="pres">
      <dgm:prSet presAssocID="{9E643380-2652-404D-B2E7-D513B2744D24}" presName="parTx" presStyleLbl="revTx" presStyleIdx="2" presStyleCnt="10">
        <dgm:presLayoutVars>
          <dgm:chMax val="0"/>
          <dgm:chPref val="0"/>
        </dgm:presLayoutVars>
      </dgm:prSet>
      <dgm:spPr/>
    </dgm:pt>
    <dgm:pt modelId="{721FFF66-1B38-429E-9327-EC3F99E97BEF}" type="pres">
      <dgm:prSet presAssocID="{9E643380-2652-404D-B2E7-D513B2744D24}" presName="txSpace" presStyleCnt="0"/>
      <dgm:spPr/>
    </dgm:pt>
    <dgm:pt modelId="{AB1E09CE-B486-4CB3-8960-48B574F41D5A}" type="pres">
      <dgm:prSet presAssocID="{9E643380-2652-404D-B2E7-D513B2744D24}" presName="desTx" presStyleLbl="revTx" presStyleIdx="3" presStyleCnt="10">
        <dgm:presLayoutVars/>
      </dgm:prSet>
      <dgm:spPr/>
    </dgm:pt>
    <dgm:pt modelId="{8E92CEFF-DBBA-42AF-A531-2BE7F82134EF}" type="pres">
      <dgm:prSet presAssocID="{71FC307E-8FBA-47A9-A4D5-7680F289465D}" presName="sibTrans" presStyleCnt="0"/>
      <dgm:spPr/>
    </dgm:pt>
    <dgm:pt modelId="{761FB0FE-C4CF-4D89-AEF7-4F92A076999C}" type="pres">
      <dgm:prSet presAssocID="{CD052090-AFDC-41A7-8A0B-D3119EDA144F}" presName="compNode" presStyleCnt="0"/>
      <dgm:spPr/>
    </dgm:pt>
    <dgm:pt modelId="{E1D65B20-6594-4311-947E-86F8F0234CE9}" type="pres">
      <dgm:prSet presAssocID="{CD052090-AFDC-41A7-8A0B-D3119EDA144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AE3C7339-4FFB-4D94-93D5-806979378F7C}" type="pres">
      <dgm:prSet presAssocID="{CD052090-AFDC-41A7-8A0B-D3119EDA144F}" presName="iconSpace" presStyleCnt="0"/>
      <dgm:spPr/>
    </dgm:pt>
    <dgm:pt modelId="{DB7B1045-EDA9-43A7-9266-5E120C7ECF17}" type="pres">
      <dgm:prSet presAssocID="{CD052090-AFDC-41A7-8A0B-D3119EDA144F}" presName="parTx" presStyleLbl="revTx" presStyleIdx="4" presStyleCnt="10">
        <dgm:presLayoutVars>
          <dgm:chMax val="0"/>
          <dgm:chPref val="0"/>
        </dgm:presLayoutVars>
      </dgm:prSet>
      <dgm:spPr/>
    </dgm:pt>
    <dgm:pt modelId="{DD6B8401-177A-49AA-8F1B-0BEF6DB093EE}" type="pres">
      <dgm:prSet presAssocID="{CD052090-AFDC-41A7-8A0B-D3119EDA144F}" presName="txSpace" presStyleCnt="0"/>
      <dgm:spPr/>
    </dgm:pt>
    <dgm:pt modelId="{21F99FD0-BDC6-4274-99F4-7B28CFF8D8F6}" type="pres">
      <dgm:prSet presAssocID="{CD052090-AFDC-41A7-8A0B-D3119EDA144F}" presName="desTx" presStyleLbl="revTx" presStyleIdx="5" presStyleCnt="10">
        <dgm:presLayoutVars/>
      </dgm:prSet>
      <dgm:spPr/>
    </dgm:pt>
    <dgm:pt modelId="{C404E46F-C2E0-4674-AC0F-05F4B54488CB}" type="pres">
      <dgm:prSet presAssocID="{535BEDF5-303D-4380-86EF-A4ADEE30A060}" presName="sibTrans" presStyleCnt="0"/>
      <dgm:spPr/>
    </dgm:pt>
    <dgm:pt modelId="{FAC646B8-4D8F-41EA-9CD8-E42E8825E722}" type="pres">
      <dgm:prSet presAssocID="{37990ADA-EC39-450D-B50A-EBB015B05AED}" presName="compNode" presStyleCnt="0"/>
      <dgm:spPr/>
    </dgm:pt>
    <dgm:pt modelId="{ABA5F367-FFBD-4C91-8A62-FC6A19115F69}" type="pres">
      <dgm:prSet presAssocID="{37990ADA-EC39-450D-B50A-EBB015B05AE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AFFD276-BE3A-4D2A-9537-0FEDF3012A4D}" type="pres">
      <dgm:prSet presAssocID="{37990ADA-EC39-450D-B50A-EBB015B05AED}" presName="iconSpace" presStyleCnt="0"/>
      <dgm:spPr/>
    </dgm:pt>
    <dgm:pt modelId="{26BCC9F1-6A9C-43E1-8513-0625DBE8289B}" type="pres">
      <dgm:prSet presAssocID="{37990ADA-EC39-450D-B50A-EBB015B05AED}" presName="parTx" presStyleLbl="revTx" presStyleIdx="6" presStyleCnt="10">
        <dgm:presLayoutVars>
          <dgm:chMax val="0"/>
          <dgm:chPref val="0"/>
        </dgm:presLayoutVars>
      </dgm:prSet>
      <dgm:spPr/>
    </dgm:pt>
    <dgm:pt modelId="{11BABC07-FEBA-4EA1-90C3-C8BACD61824F}" type="pres">
      <dgm:prSet presAssocID="{37990ADA-EC39-450D-B50A-EBB015B05AED}" presName="txSpace" presStyleCnt="0"/>
      <dgm:spPr/>
    </dgm:pt>
    <dgm:pt modelId="{7F1CEFFB-24F3-464B-A37C-7CAAD0147D48}" type="pres">
      <dgm:prSet presAssocID="{37990ADA-EC39-450D-B50A-EBB015B05AED}" presName="desTx" presStyleLbl="revTx" presStyleIdx="7" presStyleCnt="10">
        <dgm:presLayoutVars/>
      </dgm:prSet>
      <dgm:spPr/>
    </dgm:pt>
    <dgm:pt modelId="{FDC31EBC-0E96-464A-AAA2-838856CC5E8A}" type="pres">
      <dgm:prSet presAssocID="{5B04455F-7132-42AE-A08D-D9E40A61762D}" presName="sibTrans" presStyleCnt="0"/>
      <dgm:spPr/>
    </dgm:pt>
    <dgm:pt modelId="{90FBA6C4-516C-48B9-846F-F7961C07F814}" type="pres">
      <dgm:prSet presAssocID="{38AB7671-EDFD-4AFC-B7E0-235C79DBD813}" presName="compNode" presStyleCnt="0"/>
      <dgm:spPr/>
    </dgm:pt>
    <dgm:pt modelId="{424D3565-3B03-4614-8C75-B543669DB061}" type="pres">
      <dgm:prSet presAssocID="{38AB7671-EDFD-4AFC-B7E0-235C79DBD81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344DFE7D-CF6C-436D-85D1-E95D42D70F8C}" type="pres">
      <dgm:prSet presAssocID="{38AB7671-EDFD-4AFC-B7E0-235C79DBD813}" presName="iconSpace" presStyleCnt="0"/>
      <dgm:spPr/>
    </dgm:pt>
    <dgm:pt modelId="{9B6978F6-7503-4D05-81C0-B88C7F0C84A4}" type="pres">
      <dgm:prSet presAssocID="{38AB7671-EDFD-4AFC-B7E0-235C79DBD813}" presName="parTx" presStyleLbl="revTx" presStyleIdx="8" presStyleCnt="10">
        <dgm:presLayoutVars>
          <dgm:chMax val="0"/>
          <dgm:chPref val="0"/>
        </dgm:presLayoutVars>
      </dgm:prSet>
      <dgm:spPr/>
    </dgm:pt>
    <dgm:pt modelId="{0B28E078-FD6A-4BBB-862E-DF8F74A96348}" type="pres">
      <dgm:prSet presAssocID="{38AB7671-EDFD-4AFC-B7E0-235C79DBD813}" presName="txSpace" presStyleCnt="0"/>
      <dgm:spPr/>
    </dgm:pt>
    <dgm:pt modelId="{CBA240A5-AF5E-49E8-A481-A932E68C6348}" type="pres">
      <dgm:prSet presAssocID="{38AB7671-EDFD-4AFC-B7E0-235C79DBD813}" presName="desTx" presStyleLbl="revTx" presStyleIdx="9" presStyleCnt="10">
        <dgm:presLayoutVars/>
      </dgm:prSet>
      <dgm:spPr/>
    </dgm:pt>
  </dgm:ptLst>
  <dgm:cxnLst>
    <dgm:cxn modelId="{FCB9D40B-1F92-4E5D-8B12-3998D474092B}" srcId="{F89B4BDA-C807-4978-AA47-81BCD59EE095}" destId="{84CF6E7F-F545-4BB4-9B21-E99169E8D7B4}" srcOrd="1" destOrd="0" parTransId="{189B2909-22C1-450A-A897-8BE60DCF3B3F}" sibTransId="{09612249-B219-4858-9CCC-6F7349C28632}"/>
    <dgm:cxn modelId="{F4473B0D-F972-47B0-8347-C80420946C2E}" type="presOf" srcId="{7B4EB614-8E2C-427A-835E-7FA40304BFD1}" destId="{21F99FD0-BDC6-4274-99F4-7B28CFF8D8F6}" srcOrd="0" destOrd="4" presId="urn:microsoft.com/office/officeart/2018/5/layout/CenteredIconLabelDescriptionList"/>
    <dgm:cxn modelId="{77CED80F-C176-4166-A72D-171A72EC0353}" srcId="{9E643380-2652-404D-B2E7-D513B2744D24}" destId="{BE108E3D-E65A-44FB-AE09-750B1952FA44}" srcOrd="2" destOrd="0" parTransId="{25F4AEDA-1E31-41A1-9F89-0C99A570808A}" sibTransId="{41B926DD-38CD-4A32-995B-829D059D0513}"/>
    <dgm:cxn modelId="{27D6A811-2642-413C-B31D-9A08C12BC75C}" type="presOf" srcId="{A1244B01-A0C7-43E3-BAE8-0334C7BCC563}" destId="{7F1CEFFB-24F3-464B-A37C-7CAAD0147D48}" srcOrd="0" destOrd="5" presId="urn:microsoft.com/office/officeart/2018/5/layout/CenteredIconLabelDescriptionList"/>
    <dgm:cxn modelId="{72102812-74D0-43C4-BBEE-79020EDBEEA6}" srcId="{BE108E3D-E65A-44FB-AE09-750B1952FA44}" destId="{38A3E00A-0397-41E2-9223-C8859F517EDE}" srcOrd="1" destOrd="0" parTransId="{66E03238-BFE2-499B-974E-987877D0FDF2}" sibTransId="{92EE3D00-4B15-4954-8925-BC45FCFBFCDA}"/>
    <dgm:cxn modelId="{78FE9515-B218-45B7-BE30-C617A61389E5}" type="presOf" srcId="{37990ADA-EC39-450D-B50A-EBB015B05AED}" destId="{26BCC9F1-6A9C-43E1-8513-0625DBE8289B}" srcOrd="0" destOrd="0" presId="urn:microsoft.com/office/officeart/2018/5/layout/CenteredIconLabelDescriptionList"/>
    <dgm:cxn modelId="{9BB37721-681E-4D53-B82C-A93A89EE159B}" srcId="{38AB7671-EDFD-4AFC-B7E0-235C79DBD813}" destId="{A6642DA3-0F30-4EBE-A184-27F7F71A78DE}" srcOrd="1" destOrd="0" parTransId="{AD774E8D-F2D1-4427-98D6-BF15A57C5620}" sibTransId="{37BC1923-4A34-4A60-9DFA-0C15475B7430}"/>
    <dgm:cxn modelId="{64509923-5544-486E-8A6B-EC9C48B4F0E9}" type="presOf" srcId="{5120B043-2FEF-425C-8E80-2FAB8BB2478D}" destId="{AB1E09CE-B486-4CB3-8960-48B574F41D5A}" srcOrd="0" destOrd="4" presId="urn:microsoft.com/office/officeart/2018/5/layout/CenteredIconLabelDescriptionList"/>
    <dgm:cxn modelId="{19EB3F2A-2E7C-4EBB-9BA2-31EAC376D879}" type="presOf" srcId="{5EAFB78F-5A9D-4A1E-BAC8-C9020FC6428C}" destId="{21F99FD0-BDC6-4274-99F4-7B28CFF8D8F6}" srcOrd="0" destOrd="1" presId="urn:microsoft.com/office/officeart/2018/5/layout/CenteredIconLabelDescriptionList"/>
    <dgm:cxn modelId="{4E60A62A-2C66-44D6-BF2C-4D1AFB0A7DB1}" srcId="{F89B4BDA-C807-4978-AA47-81BCD59EE095}" destId="{5120B043-2FEF-425C-8E80-2FAB8BB2478D}" srcOrd="2" destOrd="0" parTransId="{6A2E4F17-45EF-4DA7-9226-5C981652F910}" sibTransId="{25CD1628-5EB1-4762-8ED6-6EF67E5BC360}"/>
    <dgm:cxn modelId="{B3E4282E-5C13-454C-8902-A3FB3C5171B1}" srcId="{FBEA3F08-1271-4290-AB7E-273F7BEEEAAB}" destId="{7B4EB614-8E2C-427A-835E-7FA40304BFD1}" srcOrd="0" destOrd="0" parTransId="{C94EF9E7-EE90-4009-B44A-CA3A625B13E4}" sibTransId="{195DA35C-EA46-4901-82D8-05819A522F51}"/>
    <dgm:cxn modelId="{0A438E32-4C22-41BD-8428-FA8DEAE6E1C6}" srcId="{9E643380-2652-404D-B2E7-D513B2744D24}" destId="{F89B4BDA-C807-4978-AA47-81BCD59EE095}" srcOrd="1" destOrd="0" parTransId="{905DBC4F-CA91-428F-A21C-BFB72147869C}" sibTransId="{10DAC259-DC0E-42A2-9E44-3894C3C005BA}"/>
    <dgm:cxn modelId="{1A861834-E2A5-46E3-8135-4A9DAB5AAFDF}" type="presOf" srcId="{9836081F-7DC5-4FB2-9959-2AA07B462C01}" destId="{7F1CEFFB-24F3-464B-A37C-7CAAD0147D48}" srcOrd="0" destOrd="0" presId="urn:microsoft.com/office/officeart/2018/5/layout/CenteredIconLabelDescriptionList"/>
    <dgm:cxn modelId="{6C529035-870A-43E7-87E2-3E78B55A1DB1}" srcId="{38AB7671-EDFD-4AFC-B7E0-235C79DBD813}" destId="{FA1486E6-97C4-44FD-94F7-7F6BDE88E437}" srcOrd="2" destOrd="0" parTransId="{888593EA-9D92-4AB3-AE3A-7C0EBCC63448}" sibTransId="{FA843F93-4B75-4526-BBDB-FBDC0BE00C04}"/>
    <dgm:cxn modelId="{70ED4E38-928F-4065-9DA7-5AB5C5A0AFEE}" type="presOf" srcId="{BE108E3D-E65A-44FB-AE09-750B1952FA44}" destId="{AB1E09CE-B486-4CB3-8960-48B574F41D5A}" srcOrd="0" destOrd="5" presId="urn:microsoft.com/office/officeart/2018/5/layout/CenteredIconLabelDescriptionList"/>
    <dgm:cxn modelId="{9A36263C-D0B8-48A4-82B2-4F5AAD4241F7}" srcId="{ACFE27F3-6746-4E46-9120-44AC4F65C9D6}" destId="{CD052090-AFDC-41A7-8A0B-D3119EDA144F}" srcOrd="2" destOrd="0" parTransId="{C9311EAE-4D05-47D3-ACE5-754F7E7C6EBD}" sibTransId="{535BEDF5-303D-4380-86EF-A4ADEE30A060}"/>
    <dgm:cxn modelId="{2B29F83C-2148-4E8F-9F15-05A5EADEC003}" srcId="{37990ADA-EC39-450D-B50A-EBB015B05AED}" destId="{BF7FD8C9-4B7A-47FD-B47B-AFD94355B5D9}" srcOrd="3" destOrd="0" parTransId="{1D7C22E2-CF8E-4508-8F30-56C9B7FF6A55}" sibTransId="{B9FA0847-8847-4319-9D8B-D1CA605F8040}"/>
    <dgm:cxn modelId="{E4E41C3D-917C-4EC5-A909-BCE4E52FFC98}" srcId="{CD052090-AFDC-41A7-8A0B-D3119EDA144F}" destId="{C2158241-0CFE-4D05-BBB4-BDDD5DCE74AF}" srcOrd="0" destOrd="0" parTransId="{530C4D6B-F1F0-4EE0-B1F1-B9AC1F5BF3E0}" sibTransId="{7D7E82A1-5F46-46BF-8009-55D134EA6697}"/>
    <dgm:cxn modelId="{3F87D33E-5AE4-4260-9ECF-61452ECD8587}" srcId="{CD052090-AFDC-41A7-8A0B-D3119EDA144F}" destId="{FBEA3F08-1271-4290-AB7E-273F7BEEEAAB}" srcOrd="3" destOrd="0" parTransId="{CA6E1A4D-E604-4FB7-9747-C5B127B45F6A}" sibTransId="{38C306D1-F391-4134-886B-D7DE8F37075C}"/>
    <dgm:cxn modelId="{15615C5F-8D96-453B-A59B-091A15064EEB}" srcId="{38AB7671-EDFD-4AFC-B7E0-235C79DBD813}" destId="{E710A32F-58B8-48AB-8B40-A1BFA0BCB137}" srcOrd="3" destOrd="0" parTransId="{F73B2A50-9864-47AE-AC13-2959C7388D48}" sibTransId="{49BC6804-B739-4F0D-926B-088F5B46839E}"/>
    <dgm:cxn modelId="{BBD36460-5120-4E15-A001-1958AD0269E5}" srcId="{ACFE27F3-6746-4E46-9120-44AC4F65C9D6}" destId="{2C392F3C-4DD9-4491-AF40-35D1EA0722F8}" srcOrd="0" destOrd="0" parTransId="{DFA24DC2-A3F1-46AD-9DD0-501E910AF19B}" sibTransId="{BC878B6A-EBE6-40A1-A299-6D109BF87512}"/>
    <dgm:cxn modelId="{13DB4960-D7CF-48CD-A305-9D272017B680}" type="presOf" srcId="{BF7FD8C9-4B7A-47FD-B47B-AFD94355B5D9}" destId="{7F1CEFFB-24F3-464B-A37C-7CAAD0147D48}" srcOrd="0" destOrd="3" presId="urn:microsoft.com/office/officeart/2018/5/layout/CenteredIconLabelDescriptionList"/>
    <dgm:cxn modelId="{EFFC8362-14FA-4C01-BC99-2DDA36FFB1CB}" srcId="{37990ADA-EC39-450D-B50A-EBB015B05AED}" destId="{FBCA3F33-5DE5-4744-81F3-32B3D924CCCB}" srcOrd="4" destOrd="0" parTransId="{04A46F0A-A091-403F-BFBE-416771775A7A}" sibTransId="{A0DD0E5B-D2C7-4B16-BA29-D9D5A02ADD19}"/>
    <dgm:cxn modelId="{D2098463-544D-47E7-B983-0097EB2FABFD}" srcId="{37990ADA-EC39-450D-B50A-EBB015B05AED}" destId="{9836081F-7DC5-4FB2-9959-2AA07B462C01}" srcOrd="0" destOrd="0" parTransId="{10DE6A14-B3B8-441B-AC7E-E370E68D7058}" sibTransId="{FBF35C80-9638-4D39-84C1-91096DB00FF3}"/>
    <dgm:cxn modelId="{97233B64-4D9C-4B6F-B1E5-A52054E08CB2}" srcId="{37990ADA-EC39-450D-B50A-EBB015B05AED}" destId="{A1244B01-A0C7-43E3-BAE8-0334C7BCC563}" srcOrd="5" destOrd="0" parTransId="{FCA439BD-F41C-498E-AE7D-FD1453056C40}" sibTransId="{F15330B7-6BF3-4EF1-9428-54566DA41AC4}"/>
    <dgm:cxn modelId="{3857EB64-97AF-4A4F-8CF2-5CB923608070}" srcId="{37990ADA-EC39-450D-B50A-EBB015B05AED}" destId="{4CFF97A2-6318-4579-99D3-27D112DE2357}" srcOrd="6" destOrd="0" parTransId="{0B0BC56C-2E40-43B5-83D6-5ADC5E04CA81}" sibTransId="{3322D567-1DAD-4813-9BD1-435E6F07A525}"/>
    <dgm:cxn modelId="{44AB6B65-38B9-4693-BBC0-AAC47E502519}" type="presOf" srcId="{4C9CD692-9526-47D8-B223-E067D4A4D306}" destId="{CBA240A5-AF5E-49E8-A481-A932E68C6348}" srcOrd="0" destOrd="0" presId="urn:microsoft.com/office/officeart/2018/5/layout/CenteredIconLabelDescriptionList"/>
    <dgm:cxn modelId="{8E80AA66-66A0-4999-884A-20F37FE7BC33}" srcId="{37990ADA-EC39-450D-B50A-EBB015B05AED}" destId="{E4876E2B-A508-4A65-A202-8941C15A3F78}" srcOrd="1" destOrd="0" parTransId="{C622E156-BF91-4043-B519-FAFFB4B7F99C}" sibTransId="{AD0684F1-7716-4A08-A758-6A60FBCE933A}"/>
    <dgm:cxn modelId="{86CF9248-A4FF-49E5-85B4-FEA61321CDDA}" type="presOf" srcId="{ABC1BD63-B4A0-452B-8B2B-4BCD5C27E030}" destId="{7F1CEFFB-24F3-464B-A37C-7CAAD0147D48}" srcOrd="0" destOrd="2" presId="urn:microsoft.com/office/officeart/2018/5/layout/CenteredIconLabelDescriptionList"/>
    <dgm:cxn modelId="{28121449-A940-480A-9789-0FC38697AAD8}" type="presOf" srcId="{4CFF97A2-6318-4579-99D3-27D112DE2357}" destId="{7F1CEFFB-24F3-464B-A37C-7CAAD0147D48}" srcOrd="0" destOrd="6" presId="urn:microsoft.com/office/officeart/2018/5/layout/CenteredIconLabelDescriptionList"/>
    <dgm:cxn modelId="{BEDF876C-D0EA-41B8-82F4-9EAC7558E835}" srcId="{9E643380-2652-404D-B2E7-D513B2744D24}" destId="{0FE2F106-7BE9-4C6C-9EFF-0A7C1FD99026}" srcOrd="0" destOrd="0" parTransId="{09F107DE-D890-46F1-A370-CF982C307F72}" sibTransId="{56E29982-A4AF-43AE-90EC-C55CB53CDD0C}"/>
    <dgm:cxn modelId="{7D17BD6E-44D0-4997-BC95-EE13CAFCB4ED}" type="presOf" srcId="{A0DF2878-78F0-4C1C-B58F-753DE1F4F545}" destId="{AB1E09CE-B486-4CB3-8960-48B574F41D5A}" srcOrd="0" destOrd="6" presId="urn:microsoft.com/office/officeart/2018/5/layout/CenteredIconLabelDescriptionList"/>
    <dgm:cxn modelId="{03FAF272-9973-4A2C-9406-483BA6C8B82F}" type="presOf" srcId="{84CF6E7F-F545-4BB4-9B21-E99169E8D7B4}" destId="{AB1E09CE-B486-4CB3-8960-48B574F41D5A}" srcOrd="0" destOrd="3" presId="urn:microsoft.com/office/officeart/2018/5/layout/CenteredIconLabelDescriptionList"/>
    <dgm:cxn modelId="{A3429456-2C93-41FB-8933-B69844920A2E}" srcId="{ACFE27F3-6746-4E46-9120-44AC4F65C9D6}" destId="{38AB7671-EDFD-4AFC-B7E0-235C79DBD813}" srcOrd="4" destOrd="0" parTransId="{A2CD5649-F6CC-42D0-8FDF-A93525B77A9B}" sibTransId="{E28ADCC8-FFC4-44E6-9DD6-04915F4133E5}"/>
    <dgm:cxn modelId="{C49E9A57-B8F3-485B-879B-25A466B14705}" type="presOf" srcId="{A6642DA3-0F30-4EBE-A184-27F7F71A78DE}" destId="{CBA240A5-AF5E-49E8-A481-A932E68C6348}" srcOrd="0" destOrd="1" presId="urn:microsoft.com/office/officeart/2018/5/layout/CenteredIconLabelDescriptionList"/>
    <dgm:cxn modelId="{5F81BF82-21F1-42AE-9BC9-6FDC27EEDBC5}" type="presOf" srcId="{F385A583-7850-4375-9C9A-3D4BB5060ACB}" destId="{21F99FD0-BDC6-4274-99F4-7B28CFF8D8F6}" srcOrd="0" destOrd="5" presId="urn:microsoft.com/office/officeart/2018/5/layout/CenteredIconLabelDescriptionList"/>
    <dgm:cxn modelId="{0D11FF84-498C-4EF2-82F0-0970F23996F6}" type="presOf" srcId="{FA1486E6-97C4-44FD-94F7-7F6BDE88E437}" destId="{CBA240A5-AF5E-49E8-A481-A932E68C6348}" srcOrd="0" destOrd="2" presId="urn:microsoft.com/office/officeart/2018/5/layout/CenteredIconLabelDescriptionList"/>
    <dgm:cxn modelId="{32A31B88-DC95-4934-BC59-5A4B0E42A091}" srcId="{CD052090-AFDC-41A7-8A0B-D3119EDA144F}" destId="{5EAFB78F-5A9D-4A1E-BAC8-C9020FC6428C}" srcOrd="1" destOrd="0" parTransId="{382A687E-DB78-4F0A-BBBA-00354526E4BB}" sibTransId="{FE08BFEA-9212-426D-A6C8-D967053A4245}"/>
    <dgm:cxn modelId="{F8913A8C-27C8-4CB0-BC72-D25C3E4763C1}" type="presOf" srcId="{2C392F3C-4DD9-4491-AF40-35D1EA0722F8}" destId="{ACD49464-8514-4834-858B-09B578416FDC}" srcOrd="0" destOrd="0" presId="urn:microsoft.com/office/officeart/2018/5/layout/CenteredIconLabelDescriptionList"/>
    <dgm:cxn modelId="{28A8D394-EB97-4A47-A7BE-B7C59075D5C9}" srcId="{37990ADA-EC39-450D-B50A-EBB015B05AED}" destId="{ABC1BD63-B4A0-452B-8B2B-4BCD5C27E030}" srcOrd="2" destOrd="0" parTransId="{E5E6E117-8C0E-4013-B7C4-4A5F71588AE1}" sibTransId="{DE778FFE-8E0E-4323-8A1B-32D319F94A98}"/>
    <dgm:cxn modelId="{86954395-A37A-449B-9AB7-137D2FF4E164}" type="presOf" srcId="{38AB7671-EDFD-4AFC-B7E0-235C79DBD813}" destId="{9B6978F6-7503-4D05-81C0-B88C7F0C84A4}" srcOrd="0" destOrd="0" presId="urn:microsoft.com/office/officeart/2018/5/layout/CenteredIconLabelDescriptionList"/>
    <dgm:cxn modelId="{400B2497-1C45-4239-8D4C-C8CFF6BF31CE}" type="presOf" srcId="{E4876E2B-A508-4A65-A202-8941C15A3F78}" destId="{7F1CEFFB-24F3-464B-A37C-7CAAD0147D48}" srcOrd="0" destOrd="1" presId="urn:microsoft.com/office/officeart/2018/5/layout/CenteredIconLabelDescriptionList"/>
    <dgm:cxn modelId="{8F22859C-CFBB-485B-81AA-217C9E8577DF}" type="presOf" srcId="{381FC1E2-AB0D-4784-84D1-E8F106FA1C52}" destId="{AB1E09CE-B486-4CB3-8960-48B574F41D5A}" srcOrd="0" destOrd="2" presId="urn:microsoft.com/office/officeart/2018/5/layout/CenteredIconLabelDescriptionList"/>
    <dgm:cxn modelId="{9E9FB89D-30A5-43D3-B374-764FD172B653}" type="presOf" srcId="{FBEA3F08-1271-4290-AB7E-273F7BEEEAAB}" destId="{21F99FD0-BDC6-4274-99F4-7B28CFF8D8F6}" srcOrd="0" destOrd="3" presId="urn:microsoft.com/office/officeart/2018/5/layout/CenteredIconLabelDescriptionList"/>
    <dgm:cxn modelId="{96A7B9AA-08F5-4700-ABB7-CE93B46E27AB}" srcId="{BE108E3D-E65A-44FB-AE09-750B1952FA44}" destId="{A0DF2878-78F0-4C1C-B58F-753DE1F4F545}" srcOrd="0" destOrd="0" parTransId="{74E9518B-F063-412F-9D23-9858C47D7F37}" sibTransId="{C60451EB-90D6-474A-935C-4CAC78D5B416}"/>
    <dgm:cxn modelId="{D0EE8DB2-B75B-44AC-BBD1-CB6BFD7795C2}" type="presOf" srcId="{E710A32F-58B8-48AB-8B40-A1BFA0BCB137}" destId="{CBA240A5-AF5E-49E8-A481-A932E68C6348}" srcOrd="0" destOrd="3" presId="urn:microsoft.com/office/officeart/2018/5/layout/CenteredIconLabelDescriptionList"/>
    <dgm:cxn modelId="{34A523B5-54D3-4F5E-BB25-99147A4CE871}" type="presOf" srcId="{CD052090-AFDC-41A7-8A0B-D3119EDA144F}" destId="{DB7B1045-EDA9-43A7-9266-5E120C7ECF17}" srcOrd="0" destOrd="0" presId="urn:microsoft.com/office/officeart/2018/5/layout/CenteredIconLabelDescriptionList"/>
    <dgm:cxn modelId="{FF9460B8-C941-411E-8243-4DCB76EE3554}" type="presOf" srcId="{ACFE27F3-6746-4E46-9120-44AC4F65C9D6}" destId="{22192C10-FEBE-4E0D-B12E-D949EA312408}" srcOrd="0" destOrd="0" presId="urn:microsoft.com/office/officeart/2018/5/layout/CenteredIconLabelDescriptionList"/>
    <dgm:cxn modelId="{B0A2BEBC-A294-4525-8D03-0E7D055A847D}" type="presOf" srcId="{0FE2F106-7BE9-4C6C-9EFF-0A7C1FD99026}" destId="{AB1E09CE-B486-4CB3-8960-48B574F41D5A}" srcOrd="0" destOrd="0" presId="urn:microsoft.com/office/officeart/2018/5/layout/CenteredIconLabelDescriptionList"/>
    <dgm:cxn modelId="{0CC775CF-6DEA-4E1F-A8C8-21B8EF0532D0}" type="presOf" srcId="{F13C6F35-C9E0-4C74-BF95-4393B0009EAE}" destId="{21F99FD0-BDC6-4274-99F4-7B28CFF8D8F6}" srcOrd="0" destOrd="2" presId="urn:microsoft.com/office/officeart/2018/5/layout/CenteredIconLabelDescriptionList"/>
    <dgm:cxn modelId="{6C1F7CD4-820A-4A54-B040-FB1C784DF74D}" srcId="{F89B4BDA-C807-4978-AA47-81BCD59EE095}" destId="{381FC1E2-AB0D-4784-84D1-E8F106FA1C52}" srcOrd="0" destOrd="0" parTransId="{8A2E58E8-CEF4-4DA5-8FE0-A770D5DF5C7D}" sibTransId="{C6218E74-6AAD-4995-BC40-885A4ADEEAC2}"/>
    <dgm:cxn modelId="{F313EDE2-DBA0-4F56-BD49-C8BC9EFBDDF9}" srcId="{CD052090-AFDC-41A7-8A0B-D3119EDA144F}" destId="{F13C6F35-C9E0-4C74-BF95-4393B0009EAE}" srcOrd="2" destOrd="0" parTransId="{9EF9E4A9-E702-4B30-A8F7-6982C70F0229}" sibTransId="{CE38742D-E5F6-43E7-8BA9-D0E394BA4DA4}"/>
    <dgm:cxn modelId="{9E8689E6-5E2A-4EA6-90DD-323C0C8A51BD}" srcId="{ACFE27F3-6746-4E46-9120-44AC4F65C9D6}" destId="{37990ADA-EC39-450D-B50A-EBB015B05AED}" srcOrd="3" destOrd="0" parTransId="{1713B5E9-9DCE-4206-8457-F2E051329C46}" sibTransId="{5B04455F-7132-42AE-A08D-D9E40A61762D}"/>
    <dgm:cxn modelId="{D04405EF-9642-4F93-9B01-573023C823A3}" srcId="{FBEA3F08-1271-4290-AB7E-273F7BEEEAAB}" destId="{F385A583-7850-4375-9C9A-3D4BB5060ACB}" srcOrd="1" destOrd="0" parTransId="{ADA7D7D5-8F2A-40F0-822F-FC85401D7038}" sibTransId="{F9EC7331-E5F9-4B01-B831-F9D3358A940B}"/>
    <dgm:cxn modelId="{090484F3-48DC-4998-BCC8-C7FA624C0E74}" type="presOf" srcId="{FBCA3F33-5DE5-4744-81F3-32B3D924CCCB}" destId="{7F1CEFFB-24F3-464B-A37C-7CAAD0147D48}" srcOrd="0" destOrd="4" presId="urn:microsoft.com/office/officeart/2018/5/layout/CenteredIconLabelDescriptionList"/>
    <dgm:cxn modelId="{5CD418F4-F890-4103-84D1-DB00BE6D11B8}" type="presOf" srcId="{F89B4BDA-C807-4978-AA47-81BCD59EE095}" destId="{AB1E09CE-B486-4CB3-8960-48B574F41D5A}" srcOrd="0" destOrd="1" presId="urn:microsoft.com/office/officeart/2018/5/layout/CenteredIconLabelDescriptionList"/>
    <dgm:cxn modelId="{B10966F6-2874-4F01-9513-A073AB937731}" type="presOf" srcId="{38A3E00A-0397-41E2-9223-C8859F517EDE}" destId="{AB1E09CE-B486-4CB3-8960-48B574F41D5A}" srcOrd="0" destOrd="7" presId="urn:microsoft.com/office/officeart/2018/5/layout/CenteredIconLabelDescriptionList"/>
    <dgm:cxn modelId="{277BB6F6-D1AC-4994-A900-F0B6DD254397}" type="presOf" srcId="{9E643380-2652-404D-B2E7-D513B2744D24}" destId="{8042C6A2-106F-4F2D-990D-692FF8E733F6}" srcOrd="0" destOrd="0" presId="urn:microsoft.com/office/officeart/2018/5/layout/CenteredIconLabelDescriptionList"/>
    <dgm:cxn modelId="{7E2E00F9-A3FE-4B7E-AE3E-AFAE01243FBD}" type="presOf" srcId="{C2158241-0CFE-4D05-BBB4-BDDD5DCE74AF}" destId="{21F99FD0-BDC6-4274-99F4-7B28CFF8D8F6}" srcOrd="0" destOrd="0" presId="urn:microsoft.com/office/officeart/2018/5/layout/CenteredIconLabelDescriptionList"/>
    <dgm:cxn modelId="{54B5C8FA-FE2A-44E6-B80C-A593B1117D93}" srcId="{ACFE27F3-6746-4E46-9120-44AC4F65C9D6}" destId="{9E643380-2652-404D-B2E7-D513B2744D24}" srcOrd="1" destOrd="0" parTransId="{DC1CBCBE-07B2-46A1-9F27-C9C5BE4B9071}" sibTransId="{71FC307E-8FBA-47A9-A4D5-7680F289465D}"/>
    <dgm:cxn modelId="{11C110FF-CDE5-4981-A95A-3BB90D2EBA8F}" srcId="{38AB7671-EDFD-4AFC-B7E0-235C79DBD813}" destId="{4C9CD692-9526-47D8-B223-E067D4A4D306}" srcOrd="0" destOrd="0" parTransId="{2B6D3E3D-13A4-4855-BC54-7AF62E193627}" sibTransId="{31EACB6A-E0D1-480E-ABFF-D7849A3B977E}"/>
    <dgm:cxn modelId="{75216019-DF75-47FE-9A7A-DE7E6EA01186}" type="presParOf" srcId="{22192C10-FEBE-4E0D-B12E-D949EA312408}" destId="{D0ACACDF-998C-45F8-BDC3-918C217EB5F3}" srcOrd="0" destOrd="0" presId="urn:microsoft.com/office/officeart/2018/5/layout/CenteredIconLabelDescriptionList"/>
    <dgm:cxn modelId="{3FCFB119-74BC-455C-9524-7F7C89C606E7}" type="presParOf" srcId="{D0ACACDF-998C-45F8-BDC3-918C217EB5F3}" destId="{BDDF707A-ED45-4F95-9486-B793F5E08392}" srcOrd="0" destOrd="0" presId="urn:microsoft.com/office/officeart/2018/5/layout/CenteredIconLabelDescriptionList"/>
    <dgm:cxn modelId="{55704834-15EE-48AB-92BB-28102AC26C0A}" type="presParOf" srcId="{D0ACACDF-998C-45F8-BDC3-918C217EB5F3}" destId="{5ACFAB6E-48D7-4876-BA93-DA1345D88B23}" srcOrd="1" destOrd="0" presId="urn:microsoft.com/office/officeart/2018/5/layout/CenteredIconLabelDescriptionList"/>
    <dgm:cxn modelId="{9C32CD7D-34CE-4D67-BC80-1146C6CB9509}" type="presParOf" srcId="{D0ACACDF-998C-45F8-BDC3-918C217EB5F3}" destId="{ACD49464-8514-4834-858B-09B578416FDC}" srcOrd="2" destOrd="0" presId="urn:microsoft.com/office/officeart/2018/5/layout/CenteredIconLabelDescriptionList"/>
    <dgm:cxn modelId="{ED91AAB7-9F6F-4719-B64F-6DA6AF7AFD31}" type="presParOf" srcId="{D0ACACDF-998C-45F8-BDC3-918C217EB5F3}" destId="{6E59B345-D6F4-4D6C-BB4D-9AC8DBC5453D}" srcOrd="3" destOrd="0" presId="urn:microsoft.com/office/officeart/2018/5/layout/CenteredIconLabelDescriptionList"/>
    <dgm:cxn modelId="{668FE364-249B-47EA-8D55-97B638384EA4}" type="presParOf" srcId="{D0ACACDF-998C-45F8-BDC3-918C217EB5F3}" destId="{B7ED360C-4D6C-4AE2-9475-A9535D06A7C8}" srcOrd="4" destOrd="0" presId="urn:microsoft.com/office/officeart/2018/5/layout/CenteredIconLabelDescriptionList"/>
    <dgm:cxn modelId="{49F180A1-6E43-4A40-A823-8D23F314D5AF}" type="presParOf" srcId="{22192C10-FEBE-4E0D-B12E-D949EA312408}" destId="{07C1415D-9347-4223-8041-C6265979F8AC}" srcOrd="1" destOrd="0" presId="urn:microsoft.com/office/officeart/2018/5/layout/CenteredIconLabelDescriptionList"/>
    <dgm:cxn modelId="{CEFD0FAD-F064-450F-9900-D3DA07375765}" type="presParOf" srcId="{22192C10-FEBE-4E0D-B12E-D949EA312408}" destId="{F8393A3B-3749-4F7B-97EC-12C20C36EBBF}" srcOrd="2" destOrd="0" presId="urn:microsoft.com/office/officeart/2018/5/layout/CenteredIconLabelDescriptionList"/>
    <dgm:cxn modelId="{147C43DE-D67E-4C8E-986F-EC2BF6433655}" type="presParOf" srcId="{F8393A3B-3749-4F7B-97EC-12C20C36EBBF}" destId="{9FE782C2-7222-43E2-986D-A150E83B0079}" srcOrd="0" destOrd="0" presId="urn:microsoft.com/office/officeart/2018/5/layout/CenteredIconLabelDescriptionList"/>
    <dgm:cxn modelId="{4FFEA459-1ABE-4924-A4DE-D3432993AE01}" type="presParOf" srcId="{F8393A3B-3749-4F7B-97EC-12C20C36EBBF}" destId="{23C8D605-5072-4521-9E1C-F8319A40650F}" srcOrd="1" destOrd="0" presId="urn:microsoft.com/office/officeart/2018/5/layout/CenteredIconLabelDescriptionList"/>
    <dgm:cxn modelId="{130679F4-559D-4F50-9629-F44502256F45}" type="presParOf" srcId="{F8393A3B-3749-4F7B-97EC-12C20C36EBBF}" destId="{8042C6A2-106F-4F2D-990D-692FF8E733F6}" srcOrd="2" destOrd="0" presId="urn:microsoft.com/office/officeart/2018/5/layout/CenteredIconLabelDescriptionList"/>
    <dgm:cxn modelId="{1A6E2AB6-4B7C-4526-A7A9-552EDFBC8056}" type="presParOf" srcId="{F8393A3B-3749-4F7B-97EC-12C20C36EBBF}" destId="{721FFF66-1B38-429E-9327-EC3F99E97BEF}" srcOrd="3" destOrd="0" presId="urn:microsoft.com/office/officeart/2018/5/layout/CenteredIconLabelDescriptionList"/>
    <dgm:cxn modelId="{8672BA0C-6BCC-4DF0-9A7B-1680A835F83B}" type="presParOf" srcId="{F8393A3B-3749-4F7B-97EC-12C20C36EBBF}" destId="{AB1E09CE-B486-4CB3-8960-48B574F41D5A}" srcOrd="4" destOrd="0" presId="urn:microsoft.com/office/officeart/2018/5/layout/CenteredIconLabelDescriptionList"/>
    <dgm:cxn modelId="{EF1A5B9C-A28A-47D2-A0E7-6140B07B12AD}" type="presParOf" srcId="{22192C10-FEBE-4E0D-B12E-D949EA312408}" destId="{8E92CEFF-DBBA-42AF-A531-2BE7F82134EF}" srcOrd="3" destOrd="0" presId="urn:microsoft.com/office/officeart/2018/5/layout/CenteredIconLabelDescriptionList"/>
    <dgm:cxn modelId="{01496EE7-A2BA-4699-B719-F4A50B0A80CC}" type="presParOf" srcId="{22192C10-FEBE-4E0D-B12E-D949EA312408}" destId="{761FB0FE-C4CF-4D89-AEF7-4F92A076999C}" srcOrd="4" destOrd="0" presId="urn:microsoft.com/office/officeart/2018/5/layout/CenteredIconLabelDescriptionList"/>
    <dgm:cxn modelId="{7D18AD71-B956-496D-B490-955FD1224DC3}" type="presParOf" srcId="{761FB0FE-C4CF-4D89-AEF7-4F92A076999C}" destId="{E1D65B20-6594-4311-947E-86F8F0234CE9}" srcOrd="0" destOrd="0" presId="urn:microsoft.com/office/officeart/2018/5/layout/CenteredIconLabelDescriptionList"/>
    <dgm:cxn modelId="{3F9A5488-73A8-4259-9B07-1A02D40312D2}" type="presParOf" srcId="{761FB0FE-C4CF-4D89-AEF7-4F92A076999C}" destId="{AE3C7339-4FFB-4D94-93D5-806979378F7C}" srcOrd="1" destOrd="0" presId="urn:microsoft.com/office/officeart/2018/5/layout/CenteredIconLabelDescriptionList"/>
    <dgm:cxn modelId="{84F8679A-E1FE-4E6D-9941-441BDBBEED18}" type="presParOf" srcId="{761FB0FE-C4CF-4D89-AEF7-4F92A076999C}" destId="{DB7B1045-EDA9-43A7-9266-5E120C7ECF17}" srcOrd="2" destOrd="0" presId="urn:microsoft.com/office/officeart/2018/5/layout/CenteredIconLabelDescriptionList"/>
    <dgm:cxn modelId="{C3C83E89-2275-46A8-AC66-7603FC5737CF}" type="presParOf" srcId="{761FB0FE-C4CF-4D89-AEF7-4F92A076999C}" destId="{DD6B8401-177A-49AA-8F1B-0BEF6DB093EE}" srcOrd="3" destOrd="0" presId="urn:microsoft.com/office/officeart/2018/5/layout/CenteredIconLabelDescriptionList"/>
    <dgm:cxn modelId="{F1913268-456E-49C5-B2AE-060378C7ECA6}" type="presParOf" srcId="{761FB0FE-C4CF-4D89-AEF7-4F92A076999C}" destId="{21F99FD0-BDC6-4274-99F4-7B28CFF8D8F6}" srcOrd="4" destOrd="0" presId="urn:microsoft.com/office/officeart/2018/5/layout/CenteredIconLabelDescriptionList"/>
    <dgm:cxn modelId="{CB30F05A-64B5-43F9-9948-D57991A713C4}" type="presParOf" srcId="{22192C10-FEBE-4E0D-B12E-D949EA312408}" destId="{C404E46F-C2E0-4674-AC0F-05F4B54488CB}" srcOrd="5" destOrd="0" presId="urn:microsoft.com/office/officeart/2018/5/layout/CenteredIconLabelDescriptionList"/>
    <dgm:cxn modelId="{58621E64-090D-482B-830C-F082AB5CE900}" type="presParOf" srcId="{22192C10-FEBE-4E0D-B12E-D949EA312408}" destId="{FAC646B8-4D8F-41EA-9CD8-E42E8825E722}" srcOrd="6" destOrd="0" presId="urn:microsoft.com/office/officeart/2018/5/layout/CenteredIconLabelDescriptionList"/>
    <dgm:cxn modelId="{3125AFED-2AAE-410F-9DCB-EB88620C6151}" type="presParOf" srcId="{FAC646B8-4D8F-41EA-9CD8-E42E8825E722}" destId="{ABA5F367-FFBD-4C91-8A62-FC6A19115F69}" srcOrd="0" destOrd="0" presId="urn:microsoft.com/office/officeart/2018/5/layout/CenteredIconLabelDescriptionList"/>
    <dgm:cxn modelId="{9ABFCE5C-2DA7-448C-B555-F001EF6A7193}" type="presParOf" srcId="{FAC646B8-4D8F-41EA-9CD8-E42E8825E722}" destId="{DAFFD276-BE3A-4D2A-9537-0FEDF3012A4D}" srcOrd="1" destOrd="0" presId="urn:microsoft.com/office/officeart/2018/5/layout/CenteredIconLabelDescriptionList"/>
    <dgm:cxn modelId="{4A3BD8A0-C020-4801-8342-8C474E7D2D2E}" type="presParOf" srcId="{FAC646B8-4D8F-41EA-9CD8-E42E8825E722}" destId="{26BCC9F1-6A9C-43E1-8513-0625DBE8289B}" srcOrd="2" destOrd="0" presId="urn:microsoft.com/office/officeart/2018/5/layout/CenteredIconLabelDescriptionList"/>
    <dgm:cxn modelId="{E94A2763-3470-4885-814E-9269DDD8F3E9}" type="presParOf" srcId="{FAC646B8-4D8F-41EA-9CD8-E42E8825E722}" destId="{11BABC07-FEBA-4EA1-90C3-C8BACD61824F}" srcOrd="3" destOrd="0" presId="urn:microsoft.com/office/officeart/2018/5/layout/CenteredIconLabelDescriptionList"/>
    <dgm:cxn modelId="{895EC3F2-C163-4240-B2D6-FEB6B7425D2D}" type="presParOf" srcId="{FAC646B8-4D8F-41EA-9CD8-E42E8825E722}" destId="{7F1CEFFB-24F3-464B-A37C-7CAAD0147D48}" srcOrd="4" destOrd="0" presId="urn:microsoft.com/office/officeart/2018/5/layout/CenteredIconLabelDescriptionList"/>
    <dgm:cxn modelId="{25727A08-A584-4CCE-AE72-918F7EA204B2}" type="presParOf" srcId="{22192C10-FEBE-4E0D-B12E-D949EA312408}" destId="{FDC31EBC-0E96-464A-AAA2-838856CC5E8A}" srcOrd="7" destOrd="0" presId="urn:microsoft.com/office/officeart/2018/5/layout/CenteredIconLabelDescriptionList"/>
    <dgm:cxn modelId="{3235D6D9-B009-4EFC-BD87-6BCC2D953AD8}" type="presParOf" srcId="{22192C10-FEBE-4E0D-B12E-D949EA312408}" destId="{90FBA6C4-516C-48B9-846F-F7961C07F814}" srcOrd="8" destOrd="0" presId="urn:microsoft.com/office/officeart/2018/5/layout/CenteredIconLabelDescriptionList"/>
    <dgm:cxn modelId="{80C97303-8687-4943-A6C5-18502A42E87D}" type="presParOf" srcId="{90FBA6C4-516C-48B9-846F-F7961C07F814}" destId="{424D3565-3B03-4614-8C75-B543669DB061}" srcOrd="0" destOrd="0" presId="urn:microsoft.com/office/officeart/2018/5/layout/CenteredIconLabelDescriptionList"/>
    <dgm:cxn modelId="{4490F198-8476-4D3D-A491-4ABEA5753FF7}" type="presParOf" srcId="{90FBA6C4-516C-48B9-846F-F7961C07F814}" destId="{344DFE7D-CF6C-436D-85D1-E95D42D70F8C}" srcOrd="1" destOrd="0" presId="urn:microsoft.com/office/officeart/2018/5/layout/CenteredIconLabelDescriptionList"/>
    <dgm:cxn modelId="{2905CA01-C22F-401C-B330-8F95BD117DAA}" type="presParOf" srcId="{90FBA6C4-516C-48B9-846F-F7961C07F814}" destId="{9B6978F6-7503-4D05-81C0-B88C7F0C84A4}" srcOrd="2" destOrd="0" presId="urn:microsoft.com/office/officeart/2018/5/layout/CenteredIconLabelDescriptionList"/>
    <dgm:cxn modelId="{2037682C-E747-4BCC-A99B-47805E9A2BB5}" type="presParOf" srcId="{90FBA6C4-516C-48B9-846F-F7961C07F814}" destId="{0B28E078-FD6A-4BBB-862E-DF8F74A96348}" srcOrd="3" destOrd="0" presId="urn:microsoft.com/office/officeart/2018/5/layout/CenteredIconLabelDescriptionList"/>
    <dgm:cxn modelId="{CFDDB875-28C3-43E5-B6FA-CE5A6622CCA5}" type="presParOf" srcId="{90FBA6C4-516C-48B9-846F-F7961C07F814}" destId="{CBA240A5-AF5E-49E8-A481-A932E68C634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F707A-ED45-4F95-9486-B793F5E08392}">
      <dsp:nvSpPr>
        <dsp:cNvPr id="0" name=""/>
        <dsp:cNvSpPr/>
      </dsp:nvSpPr>
      <dsp:spPr>
        <a:xfrm>
          <a:off x="607271" y="660915"/>
          <a:ext cx="644627" cy="644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D49464-8514-4834-858B-09B578416FDC}">
      <dsp:nvSpPr>
        <dsp:cNvPr id="0" name=""/>
        <dsp:cNvSpPr/>
      </dsp:nvSpPr>
      <dsp:spPr>
        <a:xfrm>
          <a:off x="8688" y="1436078"/>
          <a:ext cx="1841793" cy="276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Atherosclerosis</a:t>
          </a:r>
        </a:p>
      </dsp:txBody>
      <dsp:txXfrm>
        <a:off x="8688" y="1436078"/>
        <a:ext cx="1841793" cy="276269"/>
      </dsp:txXfrm>
    </dsp:sp>
    <dsp:sp modelId="{B7ED360C-4D6C-4AE2-9475-A9535D06A7C8}">
      <dsp:nvSpPr>
        <dsp:cNvPr id="0" name=""/>
        <dsp:cNvSpPr/>
      </dsp:nvSpPr>
      <dsp:spPr>
        <a:xfrm>
          <a:off x="8688" y="1773061"/>
          <a:ext cx="1841793" cy="192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E782C2-7222-43E2-986D-A150E83B0079}">
      <dsp:nvSpPr>
        <dsp:cNvPr id="0" name=""/>
        <dsp:cNvSpPr/>
      </dsp:nvSpPr>
      <dsp:spPr>
        <a:xfrm>
          <a:off x="2771378" y="660915"/>
          <a:ext cx="644627" cy="644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2C6A2-106F-4F2D-990D-692FF8E733F6}">
      <dsp:nvSpPr>
        <dsp:cNvPr id="0" name=""/>
        <dsp:cNvSpPr/>
      </dsp:nvSpPr>
      <dsp:spPr>
        <a:xfrm>
          <a:off x="2172796" y="1436078"/>
          <a:ext cx="1841793" cy="276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Lipoprotein Metabolism</a:t>
          </a:r>
        </a:p>
      </dsp:txBody>
      <dsp:txXfrm>
        <a:off x="2172796" y="1436078"/>
        <a:ext cx="1841793" cy="276269"/>
      </dsp:txXfrm>
    </dsp:sp>
    <dsp:sp modelId="{AB1E09CE-B486-4CB3-8960-48B574F41D5A}">
      <dsp:nvSpPr>
        <dsp:cNvPr id="0" name=""/>
        <dsp:cNvSpPr/>
      </dsp:nvSpPr>
      <dsp:spPr>
        <a:xfrm>
          <a:off x="2172796" y="1773061"/>
          <a:ext cx="1841793" cy="192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a lipoprotein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FFA mobilization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Ingestion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From Adipose Stores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Liver Production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Cholesterol mobilization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Ingestion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Liver Production</a:t>
          </a:r>
        </a:p>
      </dsp:txBody>
      <dsp:txXfrm>
        <a:off x="2172796" y="1773061"/>
        <a:ext cx="1841793" cy="1923546"/>
      </dsp:txXfrm>
    </dsp:sp>
    <dsp:sp modelId="{E1D65B20-6594-4311-947E-86F8F0234CE9}">
      <dsp:nvSpPr>
        <dsp:cNvPr id="0" name=""/>
        <dsp:cNvSpPr/>
      </dsp:nvSpPr>
      <dsp:spPr>
        <a:xfrm>
          <a:off x="4935486" y="660915"/>
          <a:ext cx="644627" cy="644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7B1045-EDA9-43A7-9266-5E120C7ECF17}">
      <dsp:nvSpPr>
        <dsp:cNvPr id="0" name=""/>
        <dsp:cNvSpPr/>
      </dsp:nvSpPr>
      <dsp:spPr>
        <a:xfrm>
          <a:off x="4336903" y="1436078"/>
          <a:ext cx="1841793" cy="276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Dyslipidemia</a:t>
          </a:r>
        </a:p>
      </dsp:txBody>
      <dsp:txXfrm>
        <a:off x="4336903" y="1436078"/>
        <a:ext cx="1841793" cy="276269"/>
      </dsp:txXfrm>
    </dsp:sp>
    <dsp:sp modelId="{21F99FD0-BDC6-4274-99F4-7B28CFF8D8F6}">
      <dsp:nvSpPr>
        <dsp:cNvPr id="0" name=""/>
        <dsp:cNvSpPr/>
      </dsp:nvSpPr>
      <dsp:spPr>
        <a:xfrm>
          <a:off x="4336903" y="1773061"/>
          <a:ext cx="1841793" cy="192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Primary vs Secondary Prevention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CAD/HLD Risk Factors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Clinical Features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Genetic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Familial Hypercholesterolemia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Familial Hypertriglyceridemia</a:t>
          </a:r>
        </a:p>
      </dsp:txBody>
      <dsp:txXfrm>
        <a:off x="4336903" y="1773061"/>
        <a:ext cx="1841793" cy="1923546"/>
      </dsp:txXfrm>
    </dsp:sp>
    <dsp:sp modelId="{ABA5F367-FFBD-4C91-8A62-FC6A19115F69}">
      <dsp:nvSpPr>
        <dsp:cNvPr id="0" name=""/>
        <dsp:cNvSpPr/>
      </dsp:nvSpPr>
      <dsp:spPr>
        <a:xfrm>
          <a:off x="7099593" y="660915"/>
          <a:ext cx="644627" cy="644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CC9F1-6A9C-43E1-8513-0625DBE8289B}">
      <dsp:nvSpPr>
        <dsp:cNvPr id="0" name=""/>
        <dsp:cNvSpPr/>
      </dsp:nvSpPr>
      <dsp:spPr>
        <a:xfrm>
          <a:off x="6501010" y="1436078"/>
          <a:ext cx="1841793" cy="276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Dyslipidemia Diagnostics</a:t>
          </a:r>
        </a:p>
      </dsp:txBody>
      <dsp:txXfrm>
        <a:off x="6501010" y="1436078"/>
        <a:ext cx="1841793" cy="276269"/>
      </dsp:txXfrm>
    </dsp:sp>
    <dsp:sp modelId="{7F1CEFFB-24F3-464B-A37C-7CAAD0147D48}">
      <dsp:nvSpPr>
        <dsp:cNvPr id="0" name=""/>
        <dsp:cNvSpPr/>
      </dsp:nvSpPr>
      <dsp:spPr>
        <a:xfrm>
          <a:off x="6501010" y="1773061"/>
          <a:ext cx="1841793" cy="192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Lipid Panel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NMR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Hs CRP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CAC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Timing appropriate labs/diagnostics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Diagnostic Interpretation (Framingham)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Algorithm</a:t>
          </a:r>
        </a:p>
      </dsp:txBody>
      <dsp:txXfrm>
        <a:off x="6501010" y="1773061"/>
        <a:ext cx="1841793" cy="1923546"/>
      </dsp:txXfrm>
    </dsp:sp>
    <dsp:sp modelId="{424D3565-3B03-4614-8C75-B543669DB061}">
      <dsp:nvSpPr>
        <dsp:cNvPr id="0" name=""/>
        <dsp:cNvSpPr/>
      </dsp:nvSpPr>
      <dsp:spPr>
        <a:xfrm>
          <a:off x="9263700" y="660915"/>
          <a:ext cx="644627" cy="6446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978F6-7503-4D05-81C0-B88C7F0C84A4}">
      <dsp:nvSpPr>
        <dsp:cNvPr id="0" name=""/>
        <dsp:cNvSpPr/>
      </dsp:nvSpPr>
      <dsp:spPr>
        <a:xfrm>
          <a:off x="8665117" y="1436078"/>
          <a:ext cx="1841793" cy="2762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Dyslipidemia Treatment</a:t>
          </a:r>
        </a:p>
      </dsp:txBody>
      <dsp:txXfrm>
        <a:off x="8665117" y="1436078"/>
        <a:ext cx="1841793" cy="276269"/>
      </dsp:txXfrm>
    </dsp:sp>
    <dsp:sp modelId="{CBA240A5-AF5E-49E8-A481-A932E68C6348}">
      <dsp:nvSpPr>
        <dsp:cNvPr id="0" name=""/>
        <dsp:cNvSpPr/>
      </dsp:nvSpPr>
      <dsp:spPr>
        <a:xfrm>
          <a:off x="8665117" y="1773061"/>
          <a:ext cx="1841793" cy="192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Lifestyle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Medications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Algorithm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Follow Up</a:t>
          </a:r>
        </a:p>
      </dsp:txBody>
      <dsp:txXfrm>
        <a:off x="8665117" y="1773061"/>
        <a:ext cx="1841793" cy="1923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166FA738-0759-4DE2-A14E-4B815752492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13BC44E3-8905-43F8-A11D-D92024F02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7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2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62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42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02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39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05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34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5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7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74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31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779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85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68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58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5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5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87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51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905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15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436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1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79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47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315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138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2289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175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45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477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50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93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99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159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0289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44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268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101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585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18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728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449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621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934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259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488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9251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143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0021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8865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7348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158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168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17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579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3836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0953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318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6008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3813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090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290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435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8735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023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924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384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59219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310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393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0931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0823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4152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1499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7840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79429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60738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6663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522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4125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4061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3576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803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772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11003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8440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8521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2382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7870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838960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916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4253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01085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BC44E3-8905-43F8-A11D-D92024F02244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12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5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357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4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4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1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3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8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4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01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7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20251-E0A8-40D0-ABFF-5F5A76F2B167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78F61-2A2F-454A-AE81-438C80516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6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hyperlink" Target="https://youtu.be/N33JsBeziEY?t=73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tools.acc.org/ASCVD-Risk-Estimator-Plus/#!/calculate/estimate/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E2B17-D1DA-4467-83E3-09F980D2A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9800"/>
              <a:t>Lipid Physiology and Dyslipidemia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14C9C-746E-47FC-8ED0-AD189B50A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Sarah Brandell MPAS, PA-C</a:t>
            </a:r>
          </a:p>
          <a:p>
            <a:pPr algn="l"/>
            <a:r>
              <a:rPr lang="en-US"/>
              <a:t>Fall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46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F97C2-8BDF-47B8-9D28-11DF303CB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Outline	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EAE8EE-F267-4FF7-B132-F48C18DDB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33984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15813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263C01-2A0F-4D9A-9503-FC404B74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Atherosclerosis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8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A580-EEB4-4441-B104-2B7D4E605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A48E2-5D55-4D3F-BFE3-E3095D924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MCC of CV morbidity and mortality</a:t>
            </a:r>
          </a:p>
          <a:p>
            <a:r>
              <a:rPr lang="en-US" sz="3200" dirty="0"/>
              <a:t>Progressive disorder which leads to Coronary Heart Disease, Cerebrovascular Disease, PAD, Aortic Atherosclerosis/Aneurysm</a:t>
            </a:r>
          </a:p>
          <a:p>
            <a:r>
              <a:rPr lang="en-US" sz="3200" dirty="0"/>
              <a:t>1:6 American Teenagers noted to have beginning stages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/>
              <a:t>“Narrowing and Hardening of arteries”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Endothelial Injury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Accumulation of lipoproteins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Inflammation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5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3A227-8E5E-45A8-864E-7E0BC120E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Atherosclerosis Pathophysiology</a:t>
            </a:r>
          </a:p>
        </p:txBody>
      </p:sp>
      <p:pic>
        <p:nvPicPr>
          <p:cNvPr id="1028" name="Picture 4" descr="A diagram of the inside of a stomach&#10;&#10;Description automatically generated">
            <a:extLst>
              <a:ext uri="{FF2B5EF4-FFF2-40B4-BE49-F238E27FC236}">
                <a16:creationId xmlns:a16="http://schemas.microsoft.com/office/drawing/2014/main" id="{B3E8686E-2892-4485-B058-CA0D4BD09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-2"/>
          <a:stretch/>
        </p:blipFill>
        <p:spPr bwMode="auto">
          <a:xfrm>
            <a:off x="198741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diagram of an artery&#10;&#10;Description automatically generated">
            <a:extLst>
              <a:ext uri="{FF2B5EF4-FFF2-40B4-BE49-F238E27FC236}">
                <a16:creationId xmlns:a16="http://schemas.microsoft.com/office/drawing/2014/main" id="{3EC8E8E7-6E44-9FDD-9535-BDDD708C57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/>
          <a:stretch/>
        </p:blipFill>
        <p:spPr bwMode="auto">
          <a:xfrm>
            <a:off x="6189934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132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A227-8E5E-45A8-864E-7E0BC120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1B86-F3DB-4E4A-AB93-C61093969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355" y="1825625"/>
            <a:ext cx="6025192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b="1" dirty="0"/>
              <a:t>Early Phase: </a:t>
            </a:r>
            <a:r>
              <a:rPr lang="en-US" sz="3400" dirty="0"/>
              <a:t>small lipoprotein particles penetrate the vascular endothelium where they are oxidized &amp; gather within the intimal layer</a:t>
            </a:r>
          </a:p>
          <a:p>
            <a:pPr lvl="1"/>
            <a:r>
              <a:rPr lang="en-US" sz="3400" dirty="0"/>
              <a:t>This process is accelerated at sites of endothelial damage within the vessel lumen (HTN, smoking, sheer forces)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C17063-15D1-424B-8628-7B33971E8C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06546" y="3049921"/>
            <a:ext cx="5885454" cy="336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DFFA1CF-44BC-4A0D-A701-892C23F52509}"/>
              </a:ext>
            </a:extLst>
          </p:cNvPr>
          <p:cNvSpPr/>
          <p:nvPr/>
        </p:nvSpPr>
        <p:spPr>
          <a:xfrm>
            <a:off x="7574507" y="3875964"/>
            <a:ext cx="4617493" cy="12146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A227-8E5E-45A8-864E-7E0BC120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51B86-F3DB-4E4A-AB93-C61093969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8" y="1825625"/>
            <a:ext cx="5470358" cy="4667250"/>
          </a:xfrm>
        </p:spPr>
        <p:txBody>
          <a:bodyPr>
            <a:normAutofit/>
          </a:bodyPr>
          <a:lstStyle/>
          <a:p>
            <a:r>
              <a:rPr lang="en-US" sz="3200" dirty="0"/>
              <a:t>Accumulation of lipoproteins in the intima causes ↑ adhesion molecules on the endothelial layer forming a “</a:t>
            </a:r>
            <a:r>
              <a:rPr lang="en-US" sz="3200" b="1" i="1" dirty="0"/>
              <a:t>fatty streak</a:t>
            </a:r>
            <a:r>
              <a:rPr lang="en-US" sz="3200" dirty="0"/>
              <a:t>”</a:t>
            </a:r>
          </a:p>
          <a:p>
            <a:r>
              <a:rPr lang="en-US" sz="3200" dirty="0"/>
              <a:t>Circulating Monocytes (macrophages) in the blood bind to these streaks ingesting the lipoprotein groups creating “</a:t>
            </a:r>
            <a:r>
              <a:rPr lang="en-US" sz="3200" b="1" i="1" dirty="0"/>
              <a:t>foam cells</a:t>
            </a:r>
            <a:r>
              <a:rPr lang="en-US" sz="3200" dirty="0"/>
              <a:t>”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245394-4247-4DFE-A005-08D9488BF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953620" y="3429000"/>
            <a:ext cx="5885454" cy="3360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733A655-0AC7-490B-9EDE-166412AFF820}"/>
              </a:ext>
            </a:extLst>
          </p:cNvPr>
          <p:cNvSpPr/>
          <p:nvPr/>
        </p:nvSpPr>
        <p:spPr>
          <a:xfrm>
            <a:off x="7365959" y="5575170"/>
            <a:ext cx="4617493" cy="12146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61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D2B-A3E5-4C51-AE67-E1E9E216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D90C-25AB-46C2-BA63-D1B9E32B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08" y="1825624"/>
            <a:ext cx="5213444" cy="47798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Smooth Muscle layer of the vessel wall attempts to protect this lesion by:</a:t>
            </a:r>
          </a:p>
          <a:p>
            <a:pPr lvl="1"/>
            <a:r>
              <a:rPr lang="en-US" dirty="0"/>
              <a:t>Depositing Calcium – hardening the arteries → vasodilation now inhibited in this area</a:t>
            </a:r>
          </a:p>
          <a:p>
            <a:pPr lvl="1"/>
            <a:r>
              <a:rPr lang="en-US" dirty="0"/>
              <a:t>Creating a “</a:t>
            </a:r>
            <a:r>
              <a:rPr lang="en-US" i="1" dirty="0"/>
              <a:t>Fibrous Cap” </a:t>
            </a:r>
            <a:r>
              <a:rPr lang="en-US" dirty="0"/>
              <a:t>– narrowing the arteries</a:t>
            </a:r>
          </a:p>
          <a:p>
            <a:r>
              <a:rPr lang="en-US" dirty="0"/>
              <a:t>This area is now considered an </a:t>
            </a:r>
            <a:r>
              <a:rPr lang="en-US" b="1" i="1" dirty="0"/>
              <a:t>“Atherosclerotic Plaque”</a:t>
            </a:r>
            <a:endParaRPr lang="en-US" dirty="0"/>
          </a:p>
          <a:p>
            <a:r>
              <a:rPr lang="en-US" dirty="0"/>
              <a:t>Inflammation causes the area to become locally Prothrombotic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2" name="Picture 4" descr="Cross section of human blood vessel showing atherosclerosis. artery">
            <a:extLst>
              <a:ext uri="{FF2B5EF4-FFF2-40B4-BE49-F238E27FC236}">
                <a16:creationId xmlns:a16="http://schemas.microsoft.com/office/drawing/2014/main" id="{4D4EF4F1-7C2F-4336-B985-B5695DA923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467"/>
          <a:stretch/>
        </p:blipFill>
        <p:spPr bwMode="auto">
          <a:xfrm>
            <a:off x="8789158" y="0"/>
            <a:ext cx="3143534" cy="363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264563-4B09-472B-9163-A32B3B03C8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11010" y="3272003"/>
            <a:ext cx="7109836" cy="322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867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D2B-A3E5-4C51-AE67-E1E9E216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D90C-25AB-46C2-BA63-D1B9E32B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25625"/>
            <a:ext cx="5704764" cy="4861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This Plaque is predisposed to fissure/rupture</a:t>
            </a:r>
          </a:p>
          <a:p>
            <a:r>
              <a:rPr lang="en-US" sz="3200" dirty="0"/>
              <a:t>If this occurs the core the plaque being exposed can possibly cause formation of a </a:t>
            </a:r>
            <a:r>
              <a:rPr lang="en-US" sz="3200" b="1" dirty="0"/>
              <a:t>thrombus or embolus </a:t>
            </a:r>
            <a:r>
              <a:rPr lang="en-US" sz="3200" dirty="0"/>
              <a:t>2/2 platelet aggregation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FD7A077-B55C-4AB6-976F-8C4B49B9E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22122" y="4462818"/>
            <a:ext cx="7093087" cy="203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491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D2B-A3E5-4C51-AE67-E1E9E216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Atherosclerosis Pathophysiology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BD90C-25AB-46C2-BA63-D1B9E32BD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2" y="1690688"/>
            <a:ext cx="11473131" cy="4606595"/>
          </a:xfrm>
        </p:spPr>
        <p:txBody>
          <a:bodyPr>
            <a:noAutofit/>
          </a:bodyPr>
          <a:lstStyle/>
          <a:p>
            <a:pPr fontAlgn="base"/>
            <a:r>
              <a:rPr lang="en-US" sz="3200" dirty="0"/>
              <a:t>This leads to </a:t>
            </a:r>
            <a:r>
              <a:rPr lang="en-US" sz="3200" b="1" dirty="0"/>
              <a:t>oxygen deprivation</a:t>
            </a:r>
            <a:r>
              <a:rPr lang="mr-IN" sz="3200" dirty="0"/>
              <a:t>…</a:t>
            </a:r>
            <a:r>
              <a:rPr lang="en-US" sz="3200" dirty="0"/>
              <a:t>and inherent risk to the Heart and Brain!​</a:t>
            </a:r>
            <a:br>
              <a:rPr lang="en-US" sz="3200" dirty="0"/>
            </a:br>
            <a:r>
              <a:rPr lang="en-US" sz="3200" dirty="0"/>
              <a:t>   - ACS: STEMI/NSTEMI/UA/SA ​</a:t>
            </a:r>
            <a:br>
              <a:rPr lang="en-US" sz="3200" dirty="0"/>
            </a:br>
            <a:r>
              <a:rPr lang="en-US" sz="3200" dirty="0"/>
              <a:t>   - Cerebrovascular phenomenon as well: TIA/CVA ​</a:t>
            </a:r>
          </a:p>
          <a:p>
            <a:pPr fontAlgn="base"/>
            <a:r>
              <a:rPr lang="en-US" sz="3200" dirty="0"/>
              <a:t>In addition to impairment of blood flow to kidney’s and/or lower extremities ​</a:t>
            </a:r>
          </a:p>
          <a:p>
            <a:pPr lvl="1" fontAlgn="base"/>
            <a:r>
              <a:rPr lang="en-US" sz="3200" dirty="0"/>
              <a:t>Which contributes to morbidity and mortality in afflicted patients​</a:t>
            </a:r>
          </a:p>
          <a:p>
            <a:r>
              <a:rPr lang="en-US" sz="3200" dirty="0"/>
              <a:t>All these are associated into the broader clinical</a:t>
            </a:r>
            <a:r>
              <a:rPr lang="en-US" sz="3200" b="1" dirty="0"/>
              <a:t> arteriosclerotic cardiovascular disease (ASCVD) </a:t>
            </a:r>
            <a:r>
              <a:rPr lang="en-US" sz="3200" dirty="0"/>
              <a:t>risk. </a:t>
            </a:r>
          </a:p>
        </p:txBody>
      </p:sp>
    </p:spTree>
    <p:extLst>
      <p:ext uri="{BB962C8B-B14F-4D97-AF65-F5344CB8AC3E}">
        <p14:creationId xmlns:p14="http://schemas.microsoft.com/office/powerpoint/2010/main" val="312945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68FD-E97D-3845-4534-C491ECED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Arteriosclerotic Cardiovascular Disease (ASCVD) Defined in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00387-C75C-2FF2-4655-802C7D0AF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Stable Angina</a:t>
            </a:r>
          </a:p>
          <a:p>
            <a:r>
              <a:rPr lang="en-US" sz="3200" dirty="0"/>
              <a:t>Acute Coronary Syndromes (ACS)</a:t>
            </a:r>
          </a:p>
          <a:p>
            <a:pPr lvl="1"/>
            <a:r>
              <a:rPr lang="en-US" sz="2800" dirty="0"/>
              <a:t>MI- STEMI/NSTEMI</a:t>
            </a:r>
          </a:p>
          <a:p>
            <a:pPr lvl="1"/>
            <a:r>
              <a:rPr lang="en-US" sz="2800" dirty="0"/>
              <a:t>Unstable angina- UA</a:t>
            </a:r>
          </a:p>
          <a:p>
            <a:r>
              <a:rPr lang="en-US" sz="3200" dirty="0"/>
              <a:t>Stroke (ischemic): CVA or TIA</a:t>
            </a:r>
          </a:p>
          <a:p>
            <a:r>
              <a:rPr lang="en-US" sz="3200" dirty="0"/>
              <a:t>Peripheral arterial disease (PAD)</a:t>
            </a:r>
          </a:p>
          <a:p>
            <a:r>
              <a:rPr lang="en-US" sz="3200" dirty="0" err="1"/>
              <a:t>Hx</a:t>
            </a:r>
            <a:r>
              <a:rPr lang="en-US" sz="3200" dirty="0"/>
              <a:t> of a need for coronary or other arterial revascularization</a:t>
            </a:r>
          </a:p>
        </p:txBody>
      </p:sp>
    </p:spTree>
    <p:extLst>
      <p:ext uri="{BB962C8B-B14F-4D97-AF65-F5344CB8AC3E}">
        <p14:creationId xmlns:p14="http://schemas.microsoft.com/office/powerpoint/2010/main" val="135736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D2B-A3E5-4C51-AE67-E1E9E2164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1051" y="552182"/>
            <a:ext cx="4652744" cy="470561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Atherosclerosis Pathophysiology </a:t>
            </a:r>
            <a:br>
              <a:rPr lang="en-US" sz="5200" dirty="0"/>
            </a:br>
            <a:br>
              <a:rPr lang="en-US" sz="5400" dirty="0"/>
            </a:br>
            <a:endParaRPr lang="en-US" sz="5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AE5798D-852A-4837-B749-DF4581DBD9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499298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Video camera">
            <a:hlinkClick r:id="rId4"/>
            <a:extLst>
              <a:ext uri="{FF2B5EF4-FFF2-40B4-BE49-F238E27FC236}">
                <a16:creationId xmlns:a16="http://schemas.microsoft.com/office/drawing/2014/main" id="{DD7FA944-3EF5-431D-A569-9A2F340FC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9395" y="53914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4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595D44E0-1AC9-40B2-BAB8-86F15111A4A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1931" y="102486"/>
            <a:ext cx="4781618" cy="664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4989" y="623275"/>
            <a:ext cx="658183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9233E3-9969-4A09-9CDB-5663DC37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209" y="1056640"/>
            <a:ext cx="5799947" cy="34943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/>
              <a:t>Lipoprotein Metabolism</a:t>
            </a:r>
          </a:p>
        </p:txBody>
      </p:sp>
    </p:spTree>
    <p:extLst>
      <p:ext uri="{BB962C8B-B14F-4D97-AF65-F5344CB8AC3E}">
        <p14:creationId xmlns:p14="http://schemas.microsoft.com/office/powerpoint/2010/main" val="131444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1DC183-07AE-409A-AB63-34A0C77B6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7147B-0007-4D09-9EB2-80CC435D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US" sz="4800"/>
              <a:t>Lipoprotein Metabolism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5522-BF4C-4937-AF29-358CF2FD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i="1" dirty="0"/>
              <a:t>Lipids (triglycerides and cholesterol): </a:t>
            </a:r>
            <a:r>
              <a:rPr lang="en-US" sz="3200" dirty="0"/>
              <a:t>are hydrophobic therefore they are commonly transported in </a:t>
            </a:r>
            <a:r>
              <a:rPr lang="en-US" sz="3200" b="1" dirty="0"/>
              <a:t>lipoproteins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Cruise ship">
            <a:extLst>
              <a:ext uri="{FF2B5EF4-FFF2-40B4-BE49-F238E27FC236}">
                <a16:creationId xmlns:a16="http://schemas.microsoft.com/office/drawing/2014/main" id="{F3EDA161-20EC-486F-9E1C-5EF82AFBE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1373" y="1186882"/>
            <a:ext cx="4235516" cy="423551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4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7A73-460C-4F51-B8E3-D96C9FFF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Free Fatty Acids/Triglycerides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BA5DC-D38A-4BFB-B3FA-D0AE71AFD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Free Fatty Acids (FFAs) are mobilized for tissues in 3 ways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Ingestion from Diet - chylomicrons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Adipose Cells release them – via albumin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Liver Produces them  - VLDL, IDL, LDL</a:t>
            </a:r>
          </a:p>
          <a:p>
            <a:pPr marL="914400" lvl="1" indent="-457200">
              <a:buFont typeface="+mj-lt"/>
              <a:buAutoNum type="arabicPeriod"/>
            </a:pPr>
            <a:endParaRPr lang="en-US" sz="3200" dirty="0"/>
          </a:p>
          <a:p>
            <a:r>
              <a:rPr lang="en-US" sz="3200" dirty="0"/>
              <a:t>Tissues such as Muscle cells can absorb fatty acids for ATP production</a:t>
            </a:r>
          </a:p>
          <a:p>
            <a:r>
              <a:rPr lang="en-US" sz="3200" dirty="0"/>
              <a:t>If not needed, stored in adipose cells</a:t>
            </a:r>
          </a:p>
        </p:txBody>
      </p:sp>
    </p:spTree>
    <p:extLst>
      <p:ext uri="{BB962C8B-B14F-4D97-AF65-F5344CB8AC3E}">
        <p14:creationId xmlns:p14="http://schemas.microsoft.com/office/powerpoint/2010/main" val="27063475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147B-0007-4D09-9EB2-80CC435D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89" y="586581"/>
            <a:ext cx="10909236" cy="1399858"/>
          </a:xfrm>
        </p:spPr>
        <p:txBody>
          <a:bodyPr>
            <a:normAutofit/>
          </a:bodyPr>
          <a:lstStyle/>
          <a:p>
            <a:r>
              <a:rPr lang="en-US" sz="4000" dirty="0"/>
              <a:t>Lipoprotein Metabolism </a:t>
            </a:r>
            <a:br>
              <a:rPr lang="en-US" sz="4000" dirty="0"/>
            </a:br>
            <a:r>
              <a:rPr lang="en-US" sz="4000" b="1" dirty="0">
                <a:solidFill>
                  <a:srgbClr val="7030A0"/>
                </a:solidFill>
              </a:rPr>
              <a:t>– Free Fatty Acids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5522-BF4C-4937-AF29-358CF2FD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1235" y="266700"/>
            <a:ext cx="6181040" cy="6225540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FFDD78"/>
              </a:buClr>
              <a:buNone/>
            </a:pPr>
            <a:r>
              <a:rPr lang="en-US" sz="1800" b="1" dirty="0"/>
              <a:t>1. </a:t>
            </a:r>
            <a:r>
              <a:rPr lang="en-US" b="1" dirty="0"/>
              <a:t>Ingestion from Diet</a:t>
            </a:r>
            <a:r>
              <a:rPr lang="en-US" dirty="0"/>
              <a:t>:</a:t>
            </a:r>
          </a:p>
          <a:p>
            <a:pPr lvl="1">
              <a:buClr>
                <a:srgbClr val="FFDD78"/>
              </a:buClr>
            </a:pPr>
            <a:r>
              <a:rPr lang="en-US" sz="2800" i="1" dirty="0"/>
              <a:t>Consumed Fat </a:t>
            </a:r>
            <a:r>
              <a:rPr lang="en-US" sz="2800" dirty="0"/>
              <a:t>is emulsified by </a:t>
            </a:r>
            <a:r>
              <a:rPr lang="en-US" sz="2800" u="sng" dirty="0"/>
              <a:t>Bile Acids </a:t>
            </a:r>
            <a:r>
              <a:rPr lang="en-US" sz="2800" dirty="0"/>
              <a:t>during digestion</a:t>
            </a:r>
          </a:p>
          <a:p>
            <a:pPr lvl="2">
              <a:buClr>
                <a:srgbClr val="FFDD78"/>
              </a:buClr>
            </a:pPr>
            <a:r>
              <a:rPr lang="en-US" sz="2800" dirty="0"/>
              <a:t>Bile Acids: synthesized by LDL cholesterol, and reabsorbed in the small intestine</a:t>
            </a:r>
          </a:p>
          <a:p>
            <a:pPr lvl="1">
              <a:buClr>
                <a:srgbClr val="FFDD78"/>
              </a:buClr>
            </a:pPr>
            <a:r>
              <a:rPr lang="en-US" sz="2800" u="sng" dirty="0"/>
              <a:t>Lipase</a:t>
            </a:r>
            <a:r>
              <a:rPr lang="en-US" sz="2800" dirty="0"/>
              <a:t> is then able to break fat down into fatty acids</a:t>
            </a:r>
          </a:p>
          <a:p>
            <a:pPr lvl="1">
              <a:buClr>
                <a:srgbClr val="FFDD78"/>
              </a:buClr>
            </a:pPr>
            <a:r>
              <a:rPr lang="en-US" sz="2800" dirty="0"/>
              <a:t>The small intestine cells are able to absorb </a:t>
            </a:r>
            <a:r>
              <a:rPr lang="en-US" sz="2800" i="1" dirty="0"/>
              <a:t>FFAs</a:t>
            </a:r>
          </a:p>
          <a:p>
            <a:pPr lvl="1">
              <a:buClr>
                <a:srgbClr val="FFDD78"/>
              </a:buClr>
            </a:pPr>
            <a:r>
              <a:rPr lang="en-US" sz="2800" dirty="0"/>
              <a:t>Within the cell: the FFAs are repackaged for transport into a </a:t>
            </a:r>
            <a:r>
              <a:rPr lang="en-US" sz="2800" b="1" i="1" dirty="0"/>
              <a:t>Chylomicron Lipoprotein </a:t>
            </a:r>
            <a:r>
              <a:rPr lang="en-US" sz="2800" dirty="0"/>
              <a:t> </a:t>
            </a:r>
          </a:p>
        </p:txBody>
      </p:sp>
      <p:pic>
        <p:nvPicPr>
          <p:cNvPr id="7170" name="Picture 2" descr="lipase | PMG Biology">
            <a:extLst>
              <a:ext uri="{FF2B5EF4-FFF2-40B4-BE49-F238E27FC236}">
                <a16:creationId xmlns:a16="http://schemas.microsoft.com/office/drawing/2014/main" id="{9DA21C34-9176-4862-A91E-EDCC47CA4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5898" y="2628597"/>
            <a:ext cx="4087687" cy="30657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147B-0007-4D09-9EB2-80CC435D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06" y="365125"/>
            <a:ext cx="11161294" cy="1325563"/>
          </a:xfrm>
        </p:spPr>
        <p:txBody>
          <a:bodyPr/>
          <a:lstStyle/>
          <a:p>
            <a:r>
              <a:rPr lang="en-US" dirty="0"/>
              <a:t>Lipoprotein Metabolism </a:t>
            </a:r>
            <a:br>
              <a:rPr lang="en-US" dirty="0"/>
            </a:br>
            <a:r>
              <a:rPr lang="en-US" b="1" dirty="0">
                <a:solidFill>
                  <a:srgbClr val="7030A0"/>
                </a:solidFill>
              </a:rPr>
              <a:t>– Free Fatty Acids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B5522-BF4C-4937-AF29-358CF2FD4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9512710" cy="48960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Ingestion from Diet (cont.):</a:t>
            </a:r>
          </a:p>
          <a:p>
            <a:pPr lvl="1"/>
            <a:r>
              <a:rPr lang="en-US" sz="3200" dirty="0"/>
              <a:t>At the level of the capillaries </a:t>
            </a:r>
            <a:r>
              <a:rPr lang="en-US" sz="3200" b="1" i="1" dirty="0"/>
              <a:t>LPL-Lipoprotein Lipase</a:t>
            </a:r>
            <a:r>
              <a:rPr lang="en-US" sz="3200" dirty="0"/>
              <a:t> breaks up the chylomicron into FFAs the tissue can absorb for use/storage</a:t>
            </a:r>
          </a:p>
          <a:p>
            <a:pPr lvl="2"/>
            <a:r>
              <a:rPr lang="en-US" sz="3200" dirty="0"/>
              <a:t>Tissues (muscle cells) oxidize FFAs into ATP</a:t>
            </a:r>
          </a:p>
          <a:p>
            <a:pPr lvl="2"/>
            <a:r>
              <a:rPr lang="en-US" sz="3200" dirty="0"/>
              <a:t>LPL is activated by insulin</a:t>
            </a:r>
          </a:p>
          <a:p>
            <a:pPr lvl="2"/>
            <a:r>
              <a:rPr lang="en-US" sz="3200" i="1" dirty="0"/>
              <a:t>Apo C-II receptor </a:t>
            </a:r>
            <a:r>
              <a:rPr lang="en-US" sz="3200" dirty="0"/>
              <a:t>on Chylomicron binds with LPL</a:t>
            </a:r>
          </a:p>
          <a:p>
            <a:pPr lvl="1"/>
            <a:r>
              <a:rPr lang="en-US" sz="3200" b="1" dirty="0"/>
              <a:t>Chylomicron Remnants (CR) </a:t>
            </a:r>
            <a:r>
              <a:rPr lang="en-US" sz="3200" dirty="0"/>
              <a:t>: leftover FFAs and cholesterol can be utilized in the liver</a:t>
            </a:r>
          </a:p>
        </p:txBody>
      </p:sp>
      <p:pic>
        <p:nvPicPr>
          <p:cNvPr id="1026" name="Picture 2" descr="3: Schematic of the exogenous and endogenous lipid metabolism pathways....  | Download Scientific Diagram">
            <a:extLst>
              <a:ext uri="{FF2B5EF4-FFF2-40B4-BE49-F238E27FC236}">
                <a16:creationId xmlns:a16="http://schemas.microsoft.com/office/drawing/2014/main" id="{588BB009-05EA-4E49-AD3A-E4EB6EB2E1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9305494" y="-1"/>
            <a:ext cx="2886506" cy="598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995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Low Carb Better for Shrinking Fat Cells and Improving Insulin Resistance —  Diet Doctor">
            <a:extLst>
              <a:ext uri="{FF2B5EF4-FFF2-40B4-BE49-F238E27FC236}">
                <a16:creationId xmlns:a16="http://schemas.microsoft.com/office/drawing/2014/main" id="{47010652-DA66-4BC5-8B40-18EA9B033C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7104126" cy="1124712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Lipoprotein Metabolism</a:t>
            </a:r>
            <a:r>
              <a:rPr lang="en-US" sz="3200" b="1" dirty="0">
                <a:solidFill>
                  <a:srgbClr val="7030A0"/>
                </a:solidFill>
              </a:rPr>
              <a:t>– Free Fatty Acids</a:t>
            </a:r>
            <a:endParaRPr lang="en-US" sz="3200" dirty="0">
              <a:solidFill>
                <a:srgbClr val="7030A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7904226" cy="37056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2. Adipose Cells:</a:t>
            </a:r>
          </a:p>
          <a:p>
            <a:r>
              <a:rPr lang="en-US" dirty="0"/>
              <a:t>Stored FFA globules are located on the adipocytes. </a:t>
            </a:r>
          </a:p>
          <a:p>
            <a:r>
              <a:rPr lang="en-US" dirty="0"/>
              <a:t>FFAs are able to travel in the blood stream attached to </a:t>
            </a:r>
            <a:r>
              <a:rPr lang="en-US" b="1" dirty="0"/>
              <a:t>Albumin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1-2 hours after a meal: ↓ insulin, ↑ glucagon</a:t>
            </a:r>
          </a:p>
          <a:p>
            <a:r>
              <a:rPr lang="en-US" dirty="0"/>
              <a:t>This signals FFAs to release from the adipose cells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5781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Lipoprotein Metabolism </a:t>
            </a:r>
            <a:r>
              <a:rPr lang="en-US" b="1" dirty="0">
                <a:solidFill>
                  <a:srgbClr val="7030A0"/>
                </a:solidFill>
              </a:rPr>
              <a:t>– Free Fatty Acids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Liver Production:</a:t>
            </a:r>
          </a:p>
          <a:p>
            <a:r>
              <a:rPr lang="en-US" dirty="0"/>
              <a:t>The liver is able to take excess glucose and turn it into FFAs that it then stores onto a lipoprotein called </a:t>
            </a:r>
            <a:r>
              <a:rPr lang="en-US" b="1" i="1" dirty="0"/>
              <a:t>VLDL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E7EB12-04A3-476F-AC37-CD2143C3AFBB}"/>
              </a:ext>
            </a:extLst>
          </p:cNvPr>
          <p:cNvSpPr/>
          <p:nvPr/>
        </p:nvSpPr>
        <p:spPr>
          <a:xfrm>
            <a:off x="267286" y="3221502"/>
            <a:ext cx="11514406" cy="34747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950F3F-B2A5-4897-8D9C-9B33279747BD}"/>
              </a:ext>
            </a:extLst>
          </p:cNvPr>
          <p:cNvSpPr/>
          <p:nvPr/>
        </p:nvSpPr>
        <p:spPr>
          <a:xfrm>
            <a:off x="6373836" y="3429001"/>
            <a:ext cx="4499903" cy="306387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8A1CE-A110-4AEC-9202-26CB51E45B3B}"/>
              </a:ext>
            </a:extLst>
          </p:cNvPr>
          <p:cNvSpPr txBox="1"/>
          <p:nvPr/>
        </p:nvSpPr>
        <p:spPr>
          <a:xfrm>
            <a:off x="4922520" y="3221502"/>
            <a:ext cx="11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Cytoplasm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A85CB-AAA5-4D78-9EAC-E5041BBA0071}"/>
              </a:ext>
            </a:extLst>
          </p:cNvPr>
          <p:cNvSpPr txBox="1"/>
          <p:nvPr/>
        </p:nvSpPr>
        <p:spPr>
          <a:xfrm>
            <a:off x="7283840" y="3631962"/>
            <a:ext cx="155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Mitochondria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1B42A-0E46-4A3C-ABFA-50D8E98E4D3D}"/>
              </a:ext>
            </a:extLst>
          </p:cNvPr>
          <p:cNvSpPr txBox="1"/>
          <p:nvPr/>
        </p:nvSpPr>
        <p:spPr>
          <a:xfrm>
            <a:off x="1318260" y="4751680"/>
            <a:ext cx="139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Glucose (6C)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32BA5-515B-46FF-BADE-521ADBB8F752}"/>
              </a:ext>
            </a:extLst>
          </p:cNvPr>
          <p:cNvSpPr txBox="1"/>
          <p:nvPr/>
        </p:nvSpPr>
        <p:spPr>
          <a:xfrm>
            <a:off x="3192486" y="4774196"/>
            <a:ext cx="1173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Glycolysis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5C081FB-B28B-43C4-9BDB-1159DC712EB2}"/>
              </a:ext>
            </a:extLst>
          </p:cNvPr>
          <p:cNvCxnSpPr>
            <a:stCxn id="9" idx="3"/>
          </p:cNvCxnSpPr>
          <p:nvPr/>
        </p:nvCxnSpPr>
        <p:spPr>
          <a:xfrm>
            <a:off x="2710962" y="4936346"/>
            <a:ext cx="4278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44D979-B0C5-41C6-AA73-2B14FEC5937D}"/>
              </a:ext>
            </a:extLst>
          </p:cNvPr>
          <p:cNvCxnSpPr/>
          <p:nvPr/>
        </p:nvCxnSpPr>
        <p:spPr>
          <a:xfrm>
            <a:off x="4250496" y="4954248"/>
            <a:ext cx="4278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5668559-3598-4F0F-8181-8E92BAF7C36E}"/>
              </a:ext>
            </a:extLst>
          </p:cNvPr>
          <p:cNvSpPr txBox="1"/>
          <p:nvPr/>
        </p:nvSpPr>
        <p:spPr>
          <a:xfrm>
            <a:off x="4718833" y="4751680"/>
            <a:ext cx="15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Pyruvate (3C)</a:t>
            </a:r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3B0952F-8A38-49A7-9CDF-E9066E929413}"/>
              </a:ext>
            </a:extLst>
          </p:cNvPr>
          <p:cNvCxnSpPr/>
          <p:nvPr/>
        </p:nvCxnSpPr>
        <p:spPr>
          <a:xfrm>
            <a:off x="6156375" y="4954248"/>
            <a:ext cx="543951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1AD60F-0177-4C2E-90CA-E68896893696}"/>
              </a:ext>
            </a:extLst>
          </p:cNvPr>
          <p:cNvSpPr txBox="1"/>
          <p:nvPr/>
        </p:nvSpPr>
        <p:spPr>
          <a:xfrm>
            <a:off x="6796455" y="4769582"/>
            <a:ext cx="15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Pyruvate (3C)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9151B8-363E-4FBD-B663-27374C111A78}"/>
              </a:ext>
            </a:extLst>
          </p:cNvPr>
          <p:cNvCxnSpPr/>
          <p:nvPr/>
        </p:nvCxnSpPr>
        <p:spPr>
          <a:xfrm flipV="1">
            <a:off x="7818707" y="4389941"/>
            <a:ext cx="689317" cy="446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CEC9AC-9F1A-4075-A81A-0F8BD2D1C0B8}"/>
              </a:ext>
            </a:extLst>
          </p:cNvPr>
          <p:cNvSpPr txBox="1"/>
          <p:nvPr/>
        </p:nvSpPr>
        <p:spPr>
          <a:xfrm>
            <a:off x="8304042" y="4056234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Acetyl CoA (2C)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454CE10-9CE7-432F-AC72-F46C9AFEFAD0}"/>
              </a:ext>
            </a:extLst>
          </p:cNvPr>
          <p:cNvCxnSpPr>
            <a:cxnSpLocks/>
          </p:cNvCxnSpPr>
          <p:nvPr/>
        </p:nvCxnSpPr>
        <p:spPr>
          <a:xfrm>
            <a:off x="9833463" y="4389941"/>
            <a:ext cx="397267" cy="361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CF144F-AE31-4133-A3F0-C703F6B34900}"/>
              </a:ext>
            </a:extLst>
          </p:cNvPr>
          <p:cNvSpPr txBox="1"/>
          <p:nvPr/>
        </p:nvSpPr>
        <p:spPr>
          <a:xfrm>
            <a:off x="9328637" y="4782282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KREBS Cycle</a:t>
            </a:r>
          </a:p>
        </p:txBody>
      </p:sp>
      <p:pic>
        <p:nvPicPr>
          <p:cNvPr id="34" name="Graphic 33" descr="Line arrow Counter clockwise curve">
            <a:extLst>
              <a:ext uri="{FF2B5EF4-FFF2-40B4-BE49-F238E27FC236}">
                <a16:creationId xmlns:a16="http://schemas.microsoft.com/office/drawing/2014/main" id="{BA6E39F4-E9B0-4D52-A862-65A6270F9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4960820">
            <a:off x="8768585" y="4838161"/>
            <a:ext cx="554123" cy="62838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CC76F24-AC0A-4FA9-8212-46CD76CD1935}"/>
              </a:ext>
            </a:extLst>
          </p:cNvPr>
          <p:cNvSpPr txBox="1"/>
          <p:nvPr/>
        </p:nvSpPr>
        <p:spPr>
          <a:xfrm>
            <a:off x="7675388" y="5397171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Citrate (6C)</a:t>
            </a:r>
          </a:p>
        </p:txBody>
      </p:sp>
      <p:pic>
        <p:nvPicPr>
          <p:cNvPr id="36" name="Graphic 35" descr="Line arrow Counter clockwise curve">
            <a:extLst>
              <a:ext uri="{FF2B5EF4-FFF2-40B4-BE49-F238E27FC236}">
                <a16:creationId xmlns:a16="http://schemas.microsoft.com/office/drawing/2014/main" id="{614E040C-217C-4F21-BE9A-CD2715C56C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7395335">
            <a:off x="8651822" y="5696097"/>
            <a:ext cx="554123" cy="628388"/>
          </a:xfrm>
          <a:prstGeom prst="rect">
            <a:avLst/>
          </a:prstGeom>
        </p:spPr>
      </p:pic>
      <p:pic>
        <p:nvPicPr>
          <p:cNvPr id="37" name="Graphic 36" descr="Line arrow Counter clockwise curve">
            <a:extLst>
              <a:ext uri="{FF2B5EF4-FFF2-40B4-BE49-F238E27FC236}">
                <a16:creationId xmlns:a16="http://schemas.microsoft.com/office/drawing/2014/main" id="{8C8226F3-4168-445A-ACFF-56B461A8B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308904">
            <a:off x="9446617" y="5661795"/>
            <a:ext cx="554123" cy="62838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5C31222-17D8-4F90-AC46-3541132B14B9}"/>
              </a:ext>
            </a:extLst>
          </p:cNvPr>
          <p:cNvSpPr txBox="1"/>
          <p:nvPr/>
        </p:nvSpPr>
        <p:spPr>
          <a:xfrm>
            <a:off x="9768547" y="5430044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OAA</a:t>
            </a:r>
          </a:p>
        </p:txBody>
      </p:sp>
      <p:pic>
        <p:nvPicPr>
          <p:cNvPr id="39" name="Graphic 38" descr="Line arrow Counter clockwise curve">
            <a:extLst>
              <a:ext uri="{FF2B5EF4-FFF2-40B4-BE49-F238E27FC236}">
                <a16:creationId xmlns:a16="http://schemas.microsoft.com/office/drawing/2014/main" id="{6CE0558A-1216-48A8-9215-3DBA47022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18608">
            <a:off x="10165534" y="5133399"/>
            <a:ext cx="270103" cy="306303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440BFA9-03E9-4F21-882E-215088F88845}"/>
              </a:ext>
            </a:extLst>
          </p:cNvPr>
          <p:cNvCxnSpPr>
            <a:endCxn id="35" idx="1"/>
          </p:cNvCxnSpPr>
          <p:nvPr/>
        </p:nvCxnSpPr>
        <p:spPr>
          <a:xfrm flipV="1">
            <a:off x="6024489" y="5581837"/>
            <a:ext cx="1650899" cy="328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E9BF580-B6AA-4E6F-9918-004185D595C9}"/>
              </a:ext>
            </a:extLst>
          </p:cNvPr>
          <p:cNvSpPr txBox="1"/>
          <p:nvPr/>
        </p:nvSpPr>
        <p:spPr>
          <a:xfrm>
            <a:off x="4793669" y="5421641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Citrate (6C)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D6C39F1-C818-46C2-AC1C-0667943B2070}"/>
              </a:ext>
            </a:extLst>
          </p:cNvPr>
          <p:cNvCxnSpPr/>
          <p:nvPr/>
        </p:nvCxnSpPr>
        <p:spPr>
          <a:xfrm flipH="1" flipV="1">
            <a:off x="4250496" y="5397171"/>
            <a:ext cx="468337" cy="201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F14BC19-63D2-4DED-A5B4-673D65F49A10}"/>
              </a:ext>
            </a:extLst>
          </p:cNvPr>
          <p:cNvCxnSpPr/>
          <p:nvPr/>
        </p:nvCxnSpPr>
        <p:spPr>
          <a:xfrm flipH="1">
            <a:off x="4365966" y="5799376"/>
            <a:ext cx="427703" cy="176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F226898-5CB8-47E0-9A32-452726FC261D}"/>
              </a:ext>
            </a:extLst>
          </p:cNvPr>
          <p:cNvSpPr txBox="1"/>
          <p:nvPr/>
        </p:nvSpPr>
        <p:spPr>
          <a:xfrm>
            <a:off x="3536997" y="5254255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OAA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87A8AA-C417-44B2-9BD9-863B52079BD5}"/>
              </a:ext>
            </a:extLst>
          </p:cNvPr>
          <p:cNvSpPr txBox="1"/>
          <p:nvPr/>
        </p:nvSpPr>
        <p:spPr>
          <a:xfrm>
            <a:off x="3051809" y="5772968"/>
            <a:ext cx="16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Acetyl CoA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391276C-B3E3-4271-8515-5CC90E116068}"/>
              </a:ext>
            </a:extLst>
          </p:cNvPr>
          <p:cNvSpPr/>
          <p:nvPr/>
        </p:nvSpPr>
        <p:spPr>
          <a:xfrm rot="1386956">
            <a:off x="3876235" y="6176963"/>
            <a:ext cx="1046285" cy="339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A8E884-0C11-481B-8432-3247F25AAD5F}"/>
              </a:ext>
            </a:extLst>
          </p:cNvPr>
          <p:cNvSpPr txBox="1"/>
          <p:nvPr/>
        </p:nvSpPr>
        <p:spPr>
          <a:xfrm>
            <a:off x="4961640" y="6331092"/>
            <a:ext cx="2442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Free Fatty Acids</a:t>
            </a:r>
          </a:p>
        </p:txBody>
      </p:sp>
    </p:spTree>
    <p:extLst>
      <p:ext uri="{BB962C8B-B14F-4D97-AF65-F5344CB8AC3E}">
        <p14:creationId xmlns:p14="http://schemas.microsoft.com/office/powerpoint/2010/main" val="2401480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400" dirty="0"/>
              <a:t>Lipoprotein Metabolism</a:t>
            </a:r>
            <a:br>
              <a:rPr lang="en-US" sz="3400" dirty="0"/>
            </a:br>
            <a:r>
              <a:rPr lang="en-US" sz="3400" dirty="0">
                <a:solidFill>
                  <a:srgbClr val="7030A0"/>
                </a:solidFill>
              </a:rPr>
              <a:t> </a:t>
            </a:r>
            <a:r>
              <a:rPr lang="en-US" sz="3400" b="1" dirty="0">
                <a:solidFill>
                  <a:srgbClr val="7030A0"/>
                </a:solidFill>
              </a:rPr>
              <a:t>– Free Fatty Acids</a:t>
            </a:r>
            <a:endParaRPr lang="en-US" sz="34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97" y="2330505"/>
            <a:ext cx="4794948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3. Liver Production (Cont.):</a:t>
            </a:r>
          </a:p>
          <a:p>
            <a:r>
              <a:rPr lang="en-US" sz="3200" dirty="0"/>
              <a:t>The Liver can absorb those </a:t>
            </a:r>
            <a:r>
              <a:rPr lang="en-US" sz="3200" b="1" dirty="0"/>
              <a:t>CR (chylomicron remnants</a:t>
            </a:r>
            <a:r>
              <a:rPr lang="en-US" sz="3200" dirty="0"/>
              <a:t>) and add these FFAs produced in the image below to create </a:t>
            </a:r>
            <a:r>
              <a:rPr lang="en-US" sz="3200" i="1" dirty="0"/>
              <a:t>VLDL (Very low-density lipoproteins)</a:t>
            </a:r>
          </a:p>
          <a:p>
            <a:endParaRPr lang="en-US" sz="2000" dirty="0"/>
          </a:p>
        </p:txBody>
      </p:sp>
      <p:pic>
        <p:nvPicPr>
          <p:cNvPr id="33" name="Picture 2" descr="3: Schematic of the exogenous and endogenous lipid metabolism pathways....  | Download Scientific Diagram">
            <a:extLst>
              <a:ext uri="{FF2B5EF4-FFF2-40B4-BE49-F238E27FC236}">
                <a16:creationId xmlns:a16="http://schemas.microsoft.com/office/drawing/2014/main" id="{2DCC93E7-5E78-430A-BCED-8C22D67EDE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" r="-4" b="6258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079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Lipoprotein Metabolism </a:t>
            </a:r>
            <a:r>
              <a:rPr lang="en-US" b="1" dirty="0">
                <a:solidFill>
                  <a:srgbClr val="7030A0"/>
                </a:solidFill>
              </a:rPr>
              <a:t>– Free Fatty Acids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3. Liver Production (Cont.):</a:t>
            </a:r>
          </a:p>
          <a:p>
            <a:r>
              <a:rPr lang="en-US" b="1" i="1" dirty="0"/>
              <a:t>VLDL</a:t>
            </a:r>
            <a:r>
              <a:rPr lang="en-US" dirty="0"/>
              <a:t> are similar to chylomicrons in function, they can be transported to capillaries of tissues that may need to use/store FFAs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APO C-II receptor on the surface of VLDL activates LPL (lipoprotein lipase) allowing for FFAs to released and absorbed by the tissues</a:t>
            </a:r>
          </a:p>
          <a:p>
            <a:r>
              <a:rPr lang="en-US" dirty="0"/>
              <a:t>Remaining VLDL remnants are cleared from circulation or hydrolyzed to create IDL (intermediate density lipoprotein) and </a:t>
            </a:r>
            <a:r>
              <a:rPr lang="en-US" b="1" i="1" dirty="0"/>
              <a:t>LDL (Low Density Lipoprotein)</a:t>
            </a:r>
          </a:p>
          <a:p>
            <a:pPr lvl="1"/>
            <a:r>
              <a:rPr lang="en-US" b="1" i="1" dirty="0"/>
              <a:t>APO B </a:t>
            </a:r>
            <a:r>
              <a:rPr lang="en-US" dirty="0"/>
              <a:t>on the surface of the LDL facilitate LDL clearance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3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640081"/>
            <a:ext cx="3398518" cy="52553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Lipoprotein Metabolism</a:t>
            </a:r>
            <a:endParaRPr lang="en-US" sz="48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FA8EA49-487B-4E62-AC3C-3D4A96EF0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9">
            <a:extLst>
              <a:ext uri="{FF2B5EF4-FFF2-40B4-BE49-F238E27FC236}">
                <a16:creationId xmlns:a16="http://schemas.microsoft.com/office/drawing/2014/main" id="{F3C8D54F-CA08-42F3-9924-FBA3CB680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208" y="484632"/>
            <a:ext cx="6594522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Figure 1 | Integrated Measure for Atherogenic Lipoproteins in the Modern  Era | JACC: Journal of the American College of Cardiology">
            <a:extLst>
              <a:ext uri="{FF2B5EF4-FFF2-40B4-BE49-F238E27FC236}">
                <a16:creationId xmlns:a16="http://schemas.microsoft.com/office/drawing/2014/main" id="{229C9DC6-4171-4978-AFBF-97F8E207F8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51882" y="965595"/>
            <a:ext cx="5632217" cy="480833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959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Lipoprotein Metabolism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– Cholesterol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068" y="1825625"/>
            <a:ext cx="5831457" cy="4667250"/>
          </a:xfrm>
        </p:spPr>
        <p:txBody>
          <a:bodyPr/>
          <a:lstStyle/>
          <a:p>
            <a:r>
              <a:rPr lang="en-US" sz="3200" dirty="0"/>
              <a:t>Esterified Complex Lipid</a:t>
            </a:r>
          </a:p>
          <a:p>
            <a:r>
              <a:rPr lang="en-US" sz="3200" dirty="0"/>
              <a:t>Cholesterol is used for hormone synthesis, bile acid production, cell membrane production, and stores energy. </a:t>
            </a:r>
          </a:p>
          <a:p>
            <a:r>
              <a:rPr lang="en-US" sz="3200" dirty="0"/>
              <a:t>Present in combination with TGs to form lipoproteins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98" name="Picture 2" descr="Cholesterol Functions, Foods High/Low, Charts: LDL, HDL, Total">
            <a:extLst>
              <a:ext uri="{FF2B5EF4-FFF2-40B4-BE49-F238E27FC236}">
                <a16:creationId xmlns:a16="http://schemas.microsoft.com/office/drawing/2014/main" id="{2B725930-422D-4355-BE36-4BBDA9D04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296" y="2842912"/>
            <a:ext cx="5218738" cy="364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47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10C-1F3E-4B13-BDFA-02009D50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Lipoprotein Metabolism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– Cholesterol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5C948-EC71-4028-A462-25227302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Cholesterol Metabolism: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Small intestine </a:t>
            </a:r>
            <a:r>
              <a:rPr lang="en-US" b="1" dirty="0"/>
              <a:t>absorbs ingested </a:t>
            </a:r>
            <a:r>
              <a:rPr lang="en-US" dirty="0"/>
              <a:t>cholesterol on a gradient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Liver Parenchymal Cells can </a:t>
            </a:r>
            <a:r>
              <a:rPr lang="en-US" b="1" dirty="0"/>
              <a:t>synthesize</a:t>
            </a:r>
            <a:r>
              <a:rPr lang="en-US" dirty="0"/>
              <a:t> cholesterol as well</a:t>
            </a:r>
          </a:p>
          <a:p>
            <a:r>
              <a:rPr lang="en-US" dirty="0"/>
              <a:t>Clearance of Cholesterol is completed by </a:t>
            </a:r>
            <a:r>
              <a:rPr lang="en-US" b="1" dirty="0"/>
              <a:t>recycling cholesterol </a:t>
            </a:r>
            <a:r>
              <a:rPr lang="en-US" dirty="0"/>
              <a:t>into </a:t>
            </a:r>
            <a:r>
              <a:rPr lang="en-US" i="1" dirty="0"/>
              <a:t>bile acids </a:t>
            </a:r>
            <a:r>
              <a:rPr lang="en-US" dirty="0"/>
              <a:t>OR free form liver </a:t>
            </a:r>
            <a:r>
              <a:rPr lang="en-US" b="1" dirty="0"/>
              <a:t>excretion</a:t>
            </a:r>
            <a:r>
              <a:rPr lang="en-US" dirty="0"/>
              <a:t>.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C4B1C-7F9E-43D6-8F53-3616BC98D977}"/>
              </a:ext>
            </a:extLst>
          </p:cNvPr>
          <p:cNvSpPr txBox="1"/>
          <p:nvPr/>
        </p:nvSpPr>
        <p:spPr>
          <a:xfrm>
            <a:off x="342825" y="5027632"/>
            <a:ext cx="18288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Acetate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8FF5FE4-DB95-4EAE-9795-1B9D20C5B513}"/>
              </a:ext>
            </a:extLst>
          </p:cNvPr>
          <p:cNvCxnSpPr>
            <a:cxnSpLocks/>
          </p:cNvCxnSpPr>
          <p:nvPr/>
        </p:nvCxnSpPr>
        <p:spPr>
          <a:xfrm>
            <a:off x="1763445" y="5348155"/>
            <a:ext cx="54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052008C-BAAB-466C-85CA-541167BC02C6}"/>
              </a:ext>
            </a:extLst>
          </p:cNvPr>
          <p:cNvSpPr txBox="1"/>
          <p:nvPr/>
        </p:nvSpPr>
        <p:spPr>
          <a:xfrm>
            <a:off x="2255078" y="5047166"/>
            <a:ext cx="2475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HMG CoA</a:t>
            </a:r>
            <a:endParaRPr lang="en-US" sz="3200" dirty="0">
              <a:ln w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D71BB2-FF87-404A-BDD2-AA0791DDA699}"/>
              </a:ext>
            </a:extLst>
          </p:cNvPr>
          <p:cNvCxnSpPr>
            <a:cxnSpLocks/>
          </p:cNvCxnSpPr>
          <p:nvPr/>
        </p:nvCxnSpPr>
        <p:spPr>
          <a:xfrm>
            <a:off x="4101904" y="5336433"/>
            <a:ext cx="2806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95D2462-CE61-4F63-85D9-161F8B4FA05E}"/>
              </a:ext>
            </a:extLst>
          </p:cNvPr>
          <p:cNvSpPr txBox="1"/>
          <p:nvPr/>
        </p:nvSpPr>
        <p:spPr>
          <a:xfrm>
            <a:off x="6908410" y="5015895"/>
            <a:ext cx="280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Mevalonic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Acid</a:t>
            </a:r>
            <a:endParaRPr lang="en-US" sz="3200" dirty="0">
              <a:ln w="0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13203751-309C-4E01-B8E7-B5E50D2F721D}"/>
              </a:ext>
            </a:extLst>
          </p:cNvPr>
          <p:cNvCxnSpPr>
            <a:stCxn id="15" idx="3"/>
          </p:cNvCxnSpPr>
          <p:nvPr/>
        </p:nvCxnSpPr>
        <p:spPr>
          <a:xfrm>
            <a:off x="9714916" y="5308283"/>
            <a:ext cx="456026" cy="8686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2AE7261-06C7-4912-ACFA-07A56F8DA94E}"/>
              </a:ext>
            </a:extLst>
          </p:cNvPr>
          <p:cNvSpPr txBox="1"/>
          <p:nvPr/>
        </p:nvSpPr>
        <p:spPr>
          <a:xfrm>
            <a:off x="8813409" y="6224981"/>
            <a:ext cx="2834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Cholesterol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5D0AA-BA6B-45BE-9A15-F829984E7297}"/>
              </a:ext>
            </a:extLst>
          </p:cNvPr>
          <p:cNvSpPr txBox="1"/>
          <p:nvPr/>
        </p:nvSpPr>
        <p:spPr>
          <a:xfrm>
            <a:off x="4515729" y="5015895"/>
            <a:ext cx="1936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HMG CoA Reductase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FE82D-18C0-302A-3BC4-D49956F6E21E}"/>
              </a:ext>
            </a:extLst>
          </p:cNvPr>
          <p:cNvSpPr txBox="1"/>
          <p:nvPr/>
        </p:nvSpPr>
        <p:spPr>
          <a:xfrm>
            <a:off x="8421115" y="1506022"/>
            <a:ext cx="34996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Niemann-Pick C1-Like1 (NPC1L1) Transporter</a:t>
            </a:r>
          </a:p>
        </p:txBody>
      </p:sp>
    </p:spTree>
    <p:extLst>
      <p:ext uri="{BB962C8B-B14F-4D97-AF65-F5344CB8AC3E}">
        <p14:creationId xmlns:p14="http://schemas.microsoft.com/office/powerpoint/2010/main" val="185803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7699F26A-0564-48A3-AAF4-5D2E8CEB26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011" y="0"/>
            <a:ext cx="4967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366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49536D-FCD4-4490-9009-2DF825414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Dyslipidemia</a:t>
            </a:r>
          </a:p>
        </p:txBody>
      </p:sp>
    </p:spTree>
    <p:extLst>
      <p:ext uri="{BB962C8B-B14F-4D97-AF65-F5344CB8AC3E}">
        <p14:creationId xmlns:p14="http://schemas.microsoft.com/office/powerpoint/2010/main" val="2334230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DD0C5-66C4-4D82-8C1E-DCB15C7BF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Dyslipidemia: Why do we care about Lipids?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2528-1246-4A6A-B806-666D19505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Elevated LDL c (hyperlipidemia) increase the risk for CAD</a:t>
            </a:r>
          </a:p>
          <a:p>
            <a:r>
              <a:rPr lang="en-US" dirty="0"/>
              <a:t>Elevated HDL c may be cardioprotective</a:t>
            </a:r>
          </a:p>
          <a:p>
            <a:r>
              <a:rPr lang="en-US" dirty="0"/>
              <a:t>Elevated TG (Hypertriglyceridemia) risk factor for atherosclerosis, and if severe can cause pancreatitis</a:t>
            </a:r>
          </a:p>
          <a:p>
            <a:endParaRPr lang="en-US" dirty="0"/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E57214D1-502B-4A1A-96A2-DDF04C05F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75751"/>
            <a:ext cx="4821806" cy="3152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95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86D8-B060-4338-9EAB-CB416DA0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60" y="370488"/>
            <a:ext cx="10790208" cy="1325563"/>
          </a:xfrm>
        </p:spPr>
        <p:txBody>
          <a:bodyPr/>
          <a:lstStyle/>
          <a:p>
            <a:r>
              <a:rPr lang="en-US" dirty="0"/>
              <a:t>CAD Prevention- Primary vs Secondary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96A9-82B2-4118-BD1B-7B80E8C2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2277373"/>
            <a:ext cx="11197087" cy="4215501"/>
          </a:xfrm>
        </p:spPr>
        <p:txBody>
          <a:bodyPr>
            <a:normAutofit/>
          </a:bodyPr>
          <a:lstStyle/>
          <a:p>
            <a:pPr fontAlgn="base"/>
            <a:r>
              <a:rPr lang="en-US" sz="3200" b="1" dirty="0"/>
              <a:t>Primary prevention: </a:t>
            </a:r>
            <a:r>
              <a:rPr lang="en-US" sz="3200" dirty="0"/>
              <a:t>management strategies provided </a:t>
            </a:r>
            <a:r>
              <a:rPr lang="en-US" sz="3200" i="1" u="sng" dirty="0"/>
              <a:t>prior</a:t>
            </a:r>
            <a:r>
              <a:rPr lang="en-US" sz="3200" dirty="0"/>
              <a:t> to the onset of CVD related </a:t>
            </a:r>
            <a:r>
              <a:rPr lang="en-US" sz="3200" u="sng" dirty="0"/>
              <a:t>events.</a:t>
            </a:r>
            <a:r>
              <a:rPr lang="en-US" sz="3200" dirty="0"/>
              <a:t> ​</a:t>
            </a:r>
          </a:p>
          <a:p>
            <a:pPr lvl="1" fontAlgn="base"/>
            <a:r>
              <a:rPr lang="en-US" sz="3200" dirty="0"/>
              <a:t>This of course requires recognition! ​</a:t>
            </a:r>
          </a:p>
          <a:p>
            <a:pPr lvl="1" fontAlgn="base"/>
            <a:r>
              <a:rPr lang="en-US" sz="3200" dirty="0"/>
              <a:t>But acting here provides the best long term results. </a:t>
            </a:r>
            <a:br>
              <a:rPr lang="en-US" sz="3200" dirty="0"/>
            </a:br>
            <a:r>
              <a:rPr lang="en-US" sz="3200" dirty="0"/>
              <a:t>​</a:t>
            </a:r>
          </a:p>
          <a:p>
            <a:pPr fontAlgn="base"/>
            <a:r>
              <a:rPr lang="en-US" sz="3200" b="1" dirty="0"/>
              <a:t>Secondary prevention </a:t>
            </a:r>
            <a:r>
              <a:rPr lang="en-US" sz="3200" dirty="0"/>
              <a:t>is a management plan for those who have </a:t>
            </a:r>
            <a:r>
              <a:rPr lang="en-US" sz="3200" i="1" u="sng" dirty="0"/>
              <a:t>already experienced </a:t>
            </a:r>
            <a:r>
              <a:rPr lang="en-US" sz="3200" dirty="0"/>
              <a:t>CVD events: ​</a:t>
            </a:r>
            <a:br>
              <a:rPr lang="en-US" sz="3200" dirty="0"/>
            </a:br>
            <a:r>
              <a:rPr lang="en-US" sz="3200" dirty="0"/>
              <a:t>- The efforts to prevent progression and/or recurrence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9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86D8-B060-4338-9EAB-CB416DA0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96A9-82B2-4118-BD1B-7B80E8C2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2277373"/>
            <a:ext cx="11197087" cy="4215501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/>
              <a:t>Approximately 37% of patients that have an acute coronary event will die of a coronary event in the same year​</a:t>
            </a:r>
            <a:br>
              <a:rPr lang="en-US" sz="3200" dirty="0"/>
            </a:b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- So, catching before secondary prevention treatment is implemented is ideal!​</a:t>
            </a:r>
            <a:br>
              <a:rPr lang="en-US" sz="3200" dirty="0"/>
            </a:b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- However, still of benefit to treat at any time…</a:t>
            </a:r>
          </a:p>
        </p:txBody>
      </p:sp>
    </p:spTree>
    <p:extLst>
      <p:ext uri="{BB962C8B-B14F-4D97-AF65-F5344CB8AC3E}">
        <p14:creationId xmlns:p14="http://schemas.microsoft.com/office/powerpoint/2010/main" val="4057217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86D8-B060-4338-9EAB-CB416DA0F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96A9-82B2-4118-BD1B-7B80E8C25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321" y="2277373"/>
            <a:ext cx="11197087" cy="4215501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br>
              <a:rPr lang="en-US" dirty="0"/>
            </a:br>
            <a:r>
              <a:rPr lang="en-US" sz="3200" dirty="0"/>
              <a:t>​- Since 1968 </a:t>
            </a:r>
            <a:r>
              <a:rPr lang="en-US" sz="3200" i="1" dirty="0"/>
              <a:t>death rates </a:t>
            </a:r>
            <a:r>
              <a:rPr lang="en-US" sz="3200" dirty="0"/>
              <a:t>from CVD have </a:t>
            </a:r>
            <a:r>
              <a:rPr lang="en-US" sz="3200" i="1" dirty="0"/>
              <a:t>decreased. 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i="1" dirty="0"/>
              <a:t>- </a:t>
            </a:r>
            <a:r>
              <a:rPr lang="en-US" sz="3200" dirty="0"/>
              <a:t>In fact, since 1980 the reduction in deaths have been attributed to the success of both recognition and various management strategies:​</a:t>
            </a:r>
            <a:br>
              <a:rPr lang="en-US" sz="3200" dirty="0"/>
            </a:br>
            <a:r>
              <a:rPr lang="en-US" sz="3200" b="1" dirty="0"/>
              <a:t>   - 50% 2/2 improvement in </a:t>
            </a:r>
            <a:r>
              <a:rPr lang="en-US" sz="3200" b="1" u="sng" dirty="0"/>
              <a:t>treatments</a:t>
            </a:r>
            <a:r>
              <a:rPr lang="en-US" sz="3200" u="sng" dirty="0"/>
              <a:t>​</a:t>
            </a:r>
            <a:br>
              <a:rPr lang="en-US" sz="3200" dirty="0"/>
            </a:br>
            <a:r>
              <a:rPr lang="en-US" sz="3200" b="1" dirty="0"/>
              <a:t>   - 50% 2/2 improvement in </a:t>
            </a:r>
            <a:r>
              <a:rPr lang="en-US" sz="3200" b="1" u="sng" dirty="0"/>
              <a:t>risk factors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6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0A852-ADD5-4537-8FF6-10F32F84D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CAD Risk Factors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ADD09-07E5-4F24-8E67-1EBE985D7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744" y="1690688"/>
            <a:ext cx="7560051" cy="480218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5100" dirty="0"/>
              <a:t>Modifiable</a:t>
            </a:r>
          </a:p>
          <a:p>
            <a:pPr fontAlgn="base"/>
            <a:r>
              <a:rPr lang="en-US" sz="5100" b="1" dirty="0"/>
              <a:t>Blood Lipid Abnormalities*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Diabetes Mellitus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Hypertension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Sedentary Lifestyle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Abdominal Obesity</a:t>
            </a:r>
          </a:p>
          <a:p>
            <a:pPr fontAlgn="base"/>
            <a:r>
              <a:rPr lang="en-US" sz="5100" b="1" dirty="0"/>
              <a:t>Cigarette Smoking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Psychosocial Factors</a:t>
            </a:r>
            <a:r>
              <a:rPr lang="en-US" sz="5100" dirty="0"/>
              <a:t>​</a:t>
            </a:r>
          </a:p>
          <a:p>
            <a:pPr fontAlgn="base"/>
            <a:r>
              <a:rPr lang="en-US" sz="5100" b="1" dirty="0"/>
              <a:t>Diet</a:t>
            </a:r>
          </a:p>
          <a:p>
            <a:pPr fontAlgn="base"/>
            <a:r>
              <a:rPr lang="en-US" sz="5100" b="1" dirty="0"/>
              <a:t>Too much Alcohol</a:t>
            </a:r>
            <a:r>
              <a:rPr lang="en-US" sz="5100" dirty="0"/>
              <a:t>​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D94A3D-D4B0-4996-8675-5B6B532C3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90688"/>
            <a:ext cx="5963728" cy="448627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5100" dirty="0"/>
              <a:t>Non-Modifiable</a:t>
            </a:r>
          </a:p>
          <a:p>
            <a:pPr fontAlgn="base"/>
            <a:r>
              <a:rPr lang="en-US" sz="5100" b="1" dirty="0"/>
              <a:t>Familial History</a:t>
            </a:r>
            <a:r>
              <a:rPr lang="en-US" sz="5100" dirty="0"/>
              <a:t>​</a:t>
            </a:r>
            <a:br>
              <a:rPr lang="en-US" sz="5100" dirty="0"/>
            </a:br>
            <a:r>
              <a:rPr lang="en-US" sz="5100" dirty="0"/>
              <a:t>- The younger the onset of a 1st degree relative the ↑ the risk ​</a:t>
            </a:r>
          </a:p>
          <a:p>
            <a:pPr fontAlgn="base"/>
            <a:r>
              <a:rPr lang="en-US" sz="5100" dirty="0"/>
              <a:t> </a:t>
            </a:r>
            <a:r>
              <a:rPr lang="en-US" sz="5100" b="1" dirty="0"/>
              <a:t>Male Sex</a:t>
            </a:r>
          </a:p>
          <a:p>
            <a:pPr fontAlgn="base"/>
            <a:r>
              <a:rPr lang="en-US" sz="5100" b="1" dirty="0"/>
              <a:t>Genetic Disorders</a:t>
            </a:r>
            <a:endParaRPr lang="en-US" sz="51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975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631E-B93A-401C-8315-4D0166BC3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CAD Risk Factors Effects on Lipids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E3CC-3797-4C85-8393-FA39DF4C0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5974" y="1825625"/>
            <a:ext cx="59362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Smoking</a:t>
            </a:r>
          </a:p>
          <a:p>
            <a:pPr marL="0" indent="0">
              <a:buNone/>
            </a:pP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- Causes endothelial dysfunction</a:t>
            </a:r>
          </a:p>
          <a:p>
            <a:pPr marL="0" indent="0">
              <a:buNone/>
            </a:pPr>
            <a:r>
              <a:rPr lang="en-US" dirty="0"/>
              <a:t>- ↑ oxidative arterial deposition of LDL​</a:t>
            </a:r>
            <a:br>
              <a:rPr lang="en-US" dirty="0"/>
            </a:br>
            <a:r>
              <a:rPr lang="en-US" dirty="0"/>
              <a:t>​- ↓ HDL levels</a:t>
            </a:r>
            <a:br>
              <a:rPr lang="en-US" dirty="0"/>
            </a:br>
            <a:r>
              <a:rPr lang="en-US" dirty="0"/>
              <a:t>- Tissue hypoxia 2/2 oxidant stress​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 </a:t>
            </a:r>
            <a:r>
              <a:rPr lang="en-US" dirty="0"/>
              <a:t>platelet and leukocyte adhesions​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 SNS ac</a:t>
            </a:r>
            <a:r>
              <a:rPr lang="en-US" dirty="0"/>
              <a:t>tivity 2/2 nicotine​</a:t>
            </a:r>
            <a:br>
              <a:rPr lang="en-US" dirty="0"/>
            </a:br>
            <a:r>
              <a:rPr lang="en-US" dirty="0"/>
              <a:t>- Displacement of O2 from Hgb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AF142-826D-4D49-9B29-94DC6ECBAA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HTN</a:t>
            </a:r>
          </a:p>
          <a:p>
            <a:pPr marL="0" indent="0">
              <a:buNone/>
            </a:pPr>
            <a:r>
              <a:rPr lang="en-US" dirty="0"/>
              <a:t>- Elevated BP causes damage to endothelium,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↑</a:t>
            </a:r>
            <a:r>
              <a:rPr lang="en-US" dirty="0"/>
              <a:t> permeability to vessel walls for lipoproteins “shear forces”</a:t>
            </a:r>
          </a:p>
        </p:txBody>
      </p:sp>
    </p:spTree>
    <p:extLst>
      <p:ext uri="{BB962C8B-B14F-4D97-AF65-F5344CB8AC3E}">
        <p14:creationId xmlns:p14="http://schemas.microsoft.com/office/powerpoint/2010/main" val="4188598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E3CC-3797-4C85-8393-FA39DF4C0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DM</a:t>
            </a:r>
          </a:p>
          <a:p>
            <a:pPr>
              <a:buFontTx/>
              <a:buChar char="-"/>
            </a:pPr>
            <a:r>
              <a:rPr lang="en-US" dirty="0"/>
              <a:t>Glycation of lipoproteins, enhances uptake of cholesterol by scavenger macrophages (foam cells) AND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dirty="0"/>
              <a:t> pro-thrombotic tendency</a:t>
            </a:r>
          </a:p>
          <a:p>
            <a:pPr>
              <a:buFontTx/>
              <a:buChar char="-"/>
            </a:pPr>
            <a:r>
              <a:rPr lang="en-US" dirty="0"/>
              <a:t>Causes oxidative damage of endothelial lining</a:t>
            </a:r>
          </a:p>
          <a:p>
            <a:pPr>
              <a:buFontTx/>
              <a:buChar char="-"/>
            </a:pPr>
            <a:r>
              <a:rPr lang="en-US" dirty="0"/>
              <a:t>Can cause an over production of LDL and TG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AF142-826D-4D49-9B29-94DC6ECBAA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Physical Activity</a:t>
            </a:r>
          </a:p>
          <a:p>
            <a:pPr marL="0" indent="0">
              <a:buNone/>
            </a:pPr>
            <a:endParaRPr lang="en-US" dirty="0"/>
          </a:p>
          <a:p>
            <a:pPr fontAlgn="base"/>
            <a:r>
              <a:rPr lang="en-US" dirty="0"/>
              <a:t>Lack of physical activity  = </a:t>
            </a:r>
          </a:p>
          <a:p>
            <a:pPr marL="0" indent="0" fontAlgn="base">
              <a:buNone/>
            </a:pPr>
            <a:r>
              <a:rPr lang="en-US" dirty="0"/>
              <a:t>weight gain, ↑LDL, ↓HDL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dirty="0"/>
              <a:t>​Routine physical activity =</a:t>
            </a:r>
          </a:p>
          <a:p>
            <a:pPr marL="0" indent="0" fontAlgn="base">
              <a:buNone/>
            </a:pPr>
            <a:r>
              <a:rPr lang="en-US" dirty="0"/>
              <a:t>weight loss, ↓LDL, ↑HDL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57F05F0-476D-4926-8423-3A0C6F96F7F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CAD Risk Factors Effects on Lipids</a:t>
            </a:r>
          </a:p>
        </p:txBody>
      </p:sp>
    </p:spTree>
    <p:extLst>
      <p:ext uri="{BB962C8B-B14F-4D97-AF65-F5344CB8AC3E}">
        <p14:creationId xmlns:p14="http://schemas.microsoft.com/office/powerpoint/2010/main" val="181698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E3CC-3797-4C85-8393-FA39DF4C0D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Obesity</a:t>
            </a:r>
          </a:p>
          <a:p>
            <a:r>
              <a:rPr lang="en-US" dirty="0"/>
              <a:t>Can lead to an over production of LDL/total cholesterol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1AF142-826D-4D49-9B29-94DC6ECBAA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EtOH Abuse</a:t>
            </a:r>
          </a:p>
          <a:p>
            <a:r>
              <a:rPr lang="en-US" dirty="0"/>
              <a:t>Can lead to an over production of LDL/total cholesterol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182173-E73C-45D2-814A-AB99B6C6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CAD Risk Factors Effects on Lipids</a:t>
            </a:r>
          </a:p>
        </p:txBody>
      </p:sp>
    </p:spTree>
    <p:extLst>
      <p:ext uri="{BB962C8B-B14F-4D97-AF65-F5344CB8AC3E}">
        <p14:creationId xmlns:p14="http://schemas.microsoft.com/office/powerpoint/2010/main" val="39407077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656CFA-9E22-4F9E-A593-87074BE4A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F5D51D-5833-46AC-8EE1-86FE87E7B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964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Despite Risk Factor Modification</a:t>
            </a:r>
            <a:r>
              <a:rPr lang="mr-IN" b="1" dirty="0"/>
              <a:t>…</a:t>
            </a:r>
            <a:r>
              <a:rPr lang="en-US" b="1" dirty="0"/>
              <a:t> the burden of disease is still felt!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- CAD </a:t>
            </a:r>
            <a:r>
              <a:rPr lang="en-US" i="1" u="sng" dirty="0"/>
              <a:t>still</a:t>
            </a:r>
            <a:r>
              <a:rPr lang="en-US" dirty="0"/>
              <a:t> responsible for 1 in 5 deaths every year​</a:t>
            </a:r>
            <a:br>
              <a:rPr lang="en-US" dirty="0"/>
            </a:br>
            <a:r>
              <a:rPr lang="en-US" dirty="0"/>
              <a:t>- CAD still afflicts more than 16M people every year, and this is expected to increase due to an aging population​</a:t>
            </a:r>
          </a:p>
          <a:p>
            <a:pPr marL="0" indent="0" fontAlgn="base">
              <a:buNone/>
            </a:pPr>
            <a:r>
              <a:rPr lang="en-US" b="1" u="sng" dirty="0"/>
              <a:t>Possibly because</a:t>
            </a:r>
            <a:r>
              <a:rPr lang="en-US" dirty="0"/>
              <a:t>: ​</a:t>
            </a:r>
          </a:p>
          <a:p>
            <a:pPr fontAlgn="base"/>
            <a:r>
              <a:rPr lang="en-US" dirty="0"/>
              <a:t>Only </a:t>
            </a:r>
            <a:r>
              <a:rPr lang="en-US" b="1" dirty="0"/>
              <a:t>1 out of every 3</a:t>
            </a:r>
            <a:r>
              <a:rPr lang="en-US" dirty="0"/>
              <a:t> adults with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high</a:t>
            </a:r>
            <a:r>
              <a:rPr lang="en-US" dirty="0"/>
              <a:t> LDL cholesterol has the condition under control​</a:t>
            </a:r>
          </a:p>
          <a:p>
            <a:pPr fontAlgn="base"/>
            <a:r>
              <a:rPr lang="en-US" b="1" dirty="0"/>
              <a:t>Less than half</a:t>
            </a:r>
            <a:r>
              <a:rPr lang="en-US" dirty="0"/>
              <a:t> of adults with high LDL cholesterol get treatment​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63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F81F8D5-515A-45DC-B296-30AB11F2C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9FDD6-2547-49E8-9293-DC824D18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n-US" sz="4800" dirty="0"/>
              <a:t>Dyslipidemia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0C00-1D2B-44E8-BAAD-4194ABA9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3399"/>
                </a:solidFill>
              </a:rPr>
              <a:t>Clinical Features:</a:t>
            </a:r>
          </a:p>
          <a:p>
            <a:r>
              <a:rPr lang="en-US" b="1" dirty="0"/>
              <a:t>MC asymptomatic ***</a:t>
            </a:r>
          </a:p>
          <a:p>
            <a:pPr fontAlgn="base"/>
            <a:r>
              <a:rPr lang="en-US" b="1" dirty="0"/>
              <a:t>Xanthelasma: </a:t>
            </a:r>
            <a:r>
              <a:rPr lang="en-US" dirty="0"/>
              <a:t>​</a:t>
            </a:r>
            <a:r>
              <a:rPr lang="en-US" b="1" dirty="0"/>
              <a:t>Yellowish plaques </a:t>
            </a:r>
            <a:r>
              <a:rPr lang="en-US" dirty="0"/>
              <a:t>that occur most commonly near the </a:t>
            </a:r>
            <a:r>
              <a:rPr lang="en-US" b="1" dirty="0"/>
              <a:t>inner canthus of the eyelid,</a:t>
            </a:r>
            <a:r>
              <a:rPr lang="en-US" dirty="0"/>
              <a:t> </a:t>
            </a:r>
            <a:r>
              <a:rPr lang="en-US" b="1" dirty="0"/>
              <a:t>more often on the upper lid </a:t>
            </a:r>
            <a:r>
              <a:rPr lang="en-US" dirty="0"/>
              <a:t>than the lower lid. Can be permanent. </a:t>
            </a:r>
          </a:p>
          <a:p>
            <a:pPr fontAlgn="base"/>
            <a:endParaRPr lang="en-US" sz="2000" b="1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85D8A62A-DD6B-481A-8341-54A3952CD6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"/>
          <a:stretch/>
        </p:blipFill>
        <p:spPr bwMode="auto">
          <a:xfrm>
            <a:off x="7421373" y="627954"/>
            <a:ext cx="4235516" cy="5353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88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FDD6-2547-49E8-9293-DC824D18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0C00-1D2B-44E8-BAAD-4194ABA9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87" y="1825624"/>
            <a:ext cx="1133487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3399"/>
                </a:solidFill>
              </a:rPr>
              <a:t>Clinical Features:</a:t>
            </a:r>
          </a:p>
          <a:p>
            <a:pPr fontAlgn="base"/>
            <a:r>
              <a:rPr lang="en-US" sz="3200" b="1" dirty="0"/>
              <a:t>Tendon Xanthoma:</a:t>
            </a:r>
            <a:r>
              <a:rPr lang="en-US" sz="3200" dirty="0"/>
              <a:t> cholesterol can collect within prominent tendons if very elevated</a:t>
            </a:r>
          </a:p>
          <a:p>
            <a:pPr marL="0" indent="0" fontAlgn="base">
              <a:buNone/>
            </a:pPr>
            <a:br>
              <a:rPr lang="en-US" sz="3200" dirty="0"/>
            </a:br>
            <a:r>
              <a:rPr lang="en-US" sz="3200" b="1" dirty="0"/>
              <a:t>- Achilles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b="1" dirty="0"/>
              <a:t>- Patella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b="1" dirty="0"/>
              <a:t>- Back of the hand</a:t>
            </a:r>
          </a:p>
          <a:p>
            <a:pPr fontAlgn="base"/>
            <a:endParaRPr lang="en-US" b="1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A0C59763-7852-455A-A7F1-352AA67A2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0485" y="3768725"/>
            <a:ext cx="4219575" cy="27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E62085FF-077A-4E63-AE57-09410F5F2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678" y="4341811"/>
            <a:ext cx="320992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749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FDD6-2547-49E8-9293-DC824D18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0C00-1D2B-44E8-BAAD-4194ABA9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" y="1825624"/>
            <a:ext cx="1171575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3399"/>
                </a:solidFill>
              </a:rPr>
              <a:t>Clinical Features:</a:t>
            </a:r>
          </a:p>
          <a:p>
            <a:pPr fontAlgn="base"/>
            <a:r>
              <a:rPr lang="en-US" b="1" dirty="0"/>
              <a:t>Eruptive Xanthoma: </a:t>
            </a:r>
            <a:r>
              <a:rPr lang="en-US" dirty="0"/>
              <a:t>sudden eruption on the skin, </a:t>
            </a:r>
            <a:r>
              <a:rPr lang="en-US" b="1" dirty="0"/>
              <a:t>red, yellow </a:t>
            </a:r>
            <a:r>
              <a:rPr lang="en-US" b="1" dirty="0" err="1"/>
              <a:t>papular</a:t>
            </a:r>
            <a:r>
              <a:rPr lang="en-US" b="1" dirty="0"/>
              <a:t> eruptions, that are regarded as “firm pea-sized bumps” </a:t>
            </a:r>
            <a:r>
              <a:rPr lang="en-US" dirty="0"/>
              <a:t>sometimes, “with a creamy center”. ​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38588AB-F96D-403E-80E6-1B950A2EE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692" y="3858576"/>
            <a:ext cx="5332308" cy="299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AF4C3A-C2E6-4EF2-8828-C260AE67B730}"/>
              </a:ext>
            </a:extLst>
          </p:cNvPr>
          <p:cNvSpPr txBox="1"/>
          <p:nvPr/>
        </p:nvSpPr>
        <p:spPr>
          <a:xfrm>
            <a:off x="-384811" y="3629976"/>
            <a:ext cx="73571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400" dirty="0"/>
              <a:t>They may appear on the hands, feet, arms, legs and especially the </a:t>
            </a:r>
            <a:r>
              <a:rPr lang="en-US" sz="2400" b="1" dirty="0"/>
              <a:t>buttocks. The papules may be even be pruritic. </a:t>
            </a:r>
            <a:r>
              <a:rPr lang="en-US" sz="2400" dirty="0"/>
              <a:t>​</a:t>
            </a:r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400" dirty="0"/>
              <a:t>​It is due to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sz="2400" b="1" dirty="0"/>
              <a:t> triglycerides</a:t>
            </a:r>
            <a:endParaRPr lang="en-US" sz="2400" dirty="0"/>
          </a:p>
          <a:p>
            <a:pPr marL="914400" lvl="1" indent="-457200" fontAlgn="base">
              <a:buFont typeface="Arial" panose="020B0604020202020204" pitchFamily="34" charset="0"/>
              <a:buChar char="•"/>
            </a:pPr>
            <a:r>
              <a:rPr lang="en-US" sz="2400" dirty="0"/>
              <a:t>​The xanthomas usually disappear when the underlying condition is treated, such as when the diabetes comes under control.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0550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78342-509E-43A3-96C0-02C1431D1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Dyslipidemia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A562-1CFB-4074-8D23-01CE5824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Causes: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Genetic</a:t>
            </a:r>
            <a:r>
              <a:rPr lang="en-US" sz="3200" dirty="0"/>
              <a:t> </a:t>
            </a:r>
          </a:p>
          <a:p>
            <a:pPr lvl="1"/>
            <a:r>
              <a:rPr lang="en-US" sz="3200" dirty="0"/>
              <a:t>Familial HLD, Familial Hypertriglyceridemia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More Commonly Secondary to Risk Factors</a:t>
            </a:r>
          </a:p>
          <a:p>
            <a:pPr lvl="1"/>
            <a:r>
              <a:rPr lang="en-US" sz="3200" dirty="0"/>
              <a:t>DM, Alcohol, hypothyroidism, obesity, sedentary lifestyle, renal or liver disease, smoking, medications, dietary intake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218631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0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2" y="1846371"/>
            <a:ext cx="12048829" cy="3165257"/>
            <a:chOff x="143163" y="5763486"/>
            <a:chExt cx="12048829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2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0752" y="389517"/>
            <a:ext cx="6686629" cy="60586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750CBD-5236-4ED3-8C65-29D6FF82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8432"/>
            <a:ext cx="5597236" cy="49211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Genetic Causes of Dyslipidemia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3B24AB-F475-461A-89B8-25B7C028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37" y="2366751"/>
            <a:ext cx="4148600" cy="21244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Familial Hypercholesterolemia</a:t>
            </a:r>
          </a:p>
          <a:p>
            <a:pPr marL="514350" indent="-514350">
              <a:buAutoNum type="arabicPeriod"/>
            </a:pPr>
            <a:r>
              <a: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Familial Hypertriglyceridemia</a:t>
            </a:r>
          </a:p>
        </p:txBody>
      </p:sp>
    </p:spTree>
    <p:extLst>
      <p:ext uri="{BB962C8B-B14F-4D97-AF65-F5344CB8AC3E}">
        <p14:creationId xmlns:p14="http://schemas.microsoft.com/office/powerpoint/2010/main" val="1479336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/>
              <a:t>Genetic Disorders of Lipid Metabolism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Familial Hypercholesterolemia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/>
                </a:solidFill>
              </a:rPr>
              <a:t>Suspect when: </a:t>
            </a:r>
          </a:p>
          <a:p>
            <a:r>
              <a:rPr lang="en-US" dirty="0"/>
              <a:t>LDL-C &gt;190 mg/dL </a:t>
            </a:r>
          </a:p>
          <a:p>
            <a:pPr marL="0" indent="0">
              <a:buNone/>
            </a:pPr>
            <a:r>
              <a:rPr lang="en-US" dirty="0"/>
              <a:t>AND</a:t>
            </a:r>
          </a:p>
          <a:p>
            <a:r>
              <a:rPr lang="en-US" dirty="0"/>
              <a:t>either a first degree relative with LDL-C&gt;190 mg/dL or with known premature coronary heart disease</a:t>
            </a:r>
          </a:p>
          <a:p>
            <a:pPr marL="0" indent="0">
              <a:buNone/>
            </a:pPr>
            <a:r>
              <a:rPr lang="en-US" sz="2400" dirty="0"/>
              <a:t>           (&lt;55 years men; &lt;65 years women)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503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Familial Hypercholesterolemia: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2" y="1825624"/>
            <a:ext cx="7115878" cy="4686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1. Familial </a:t>
            </a:r>
            <a:r>
              <a:rPr lang="en-US" sz="3200" b="1" dirty="0">
                <a:solidFill>
                  <a:schemeClr val="accent1"/>
                </a:solidFill>
              </a:rPr>
              <a:t>Defective LDL Receptor:</a:t>
            </a:r>
          </a:p>
          <a:p>
            <a:pPr lvl="1"/>
            <a:r>
              <a:rPr lang="en-US" sz="2800" dirty="0"/>
              <a:t>Mutation in gene that encodes LDL APO B/E receptor on the surface of the liver</a:t>
            </a:r>
          </a:p>
          <a:p>
            <a:pPr lvl="1"/>
            <a:r>
              <a:rPr lang="en-US" sz="2800" dirty="0"/>
              <a:t>This </a:t>
            </a:r>
            <a:r>
              <a:rPr lang="en-US" sz="2800" u="sng" dirty="0"/>
              <a:t>decreases the clearance of LDL</a:t>
            </a:r>
          </a:p>
          <a:p>
            <a:pPr lvl="1"/>
            <a:r>
              <a:rPr lang="en-US" sz="2800" dirty="0"/>
              <a:t>Clinical Symptoms:</a:t>
            </a:r>
          </a:p>
          <a:p>
            <a:pPr lvl="2"/>
            <a:r>
              <a:rPr lang="en-US" sz="2800" dirty="0"/>
              <a:t>Excess LDL causes increased intravascular Plaque formation</a:t>
            </a:r>
          </a:p>
          <a:p>
            <a:pPr lvl="2"/>
            <a:r>
              <a:rPr lang="en-US" sz="2800" dirty="0"/>
              <a:t>Skin/tendon – xanthoma</a:t>
            </a:r>
          </a:p>
          <a:p>
            <a:pPr lvl="2"/>
            <a:r>
              <a:rPr lang="en-US" sz="2800" dirty="0"/>
              <a:t>Eyelids – xanthelasma</a:t>
            </a:r>
          </a:p>
          <a:p>
            <a:pPr lvl="2"/>
            <a:r>
              <a:rPr lang="en-US" sz="2800" dirty="0"/>
              <a:t>Iris – corneal arcus</a:t>
            </a:r>
          </a:p>
        </p:txBody>
      </p:sp>
      <p:pic>
        <p:nvPicPr>
          <p:cNvPr id="1026" name="Picture 2" descr="Corneal arcus (arcus senilis): Online Atlas of Ophthalmology: The  University of Iowa, Ophthalmology">
            <a:extLst>
              <a:ext uri="{FF2B5EF4-FFF2-40B4-BE49-F238E27FC236}">
                <a16:creationId xmlns:a16="http://schemas.microsoft.com/office/drawing/2014/main" id="{21E36058-6D99-4D48-9CF1-C173F1CB9E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anthoma | DermNet NZ">
            <a:extLst>
              <a:ext uri="{FF2B5EF4-FFF2-40B4-BE49-F238E27FC236}">
                <a16:creationId xmlns:a16="http://schemas.microsoft.com/office/drawing/2014/main" id="{3F34C925-2727-4FB5-AE06-5AFCD53B5D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6145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Familial Hypercholesterolemia: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1690688"/>
            <a:ext cx="11072812" cy="4952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1. Familial </a:t>
            </a:r>
            <a:r>
              <a:rPr lang="en-US" sz="3200" b="1" dirty="0">
                <a:solidFill>
                  <a:schemeClr val="accent1"/>
                </a:solidFill>
              </a:rPr>
              <a:t>Defective LDL Receptor:</a:t>
            </a:r>
          </a:p>
          <a:p>
            <a:r>
              <a:rPr lang="en-US" sz="3200" dirty="0"/>
              <a:t>Homozygous FH, autosomal dominant, rare</a:t>
            </a:r>
          </a:p>
          <a:p>
            <a:pPr lvl="1"/>
            <a:r>
              <a:rPr lang="en-US" sz="2800" dirty="0"/>
              <a:t>Presents early in life </a:t>
            </a:r>
          </a:p>
          <a:p>
            <a:pPr lvl="1"/>
            <a:r>
              <a:rPr lang="en-US" sz="2800" dirty="0"/>
              <a:t>These patients develop CAD, aortic stenosis, and tendon xanthomas</a:t>
            </a:r>
          </a:p>
          <a:p>
            <a:pPr lvl="1"/>
            <a:r>
              <a:rPr lang="en-US" sz="2800" dirty="0"/>
              <a:t>Commonly can die of MI &lt; 20 </a:t>
            </a:r>
            <a:r>
              <a:rPr lang="en-US" sz="2800" dirty="0" err="1"/>
              <a:t>yo</a:t>
            </a:r>
            <a:r>
              <a:rPr lang="en-US" sz="2800" dirty="0"/>
              <a:t> without early intervention</a:t>
            </a:r>
          </a:p>
          <a:p>
            <a:r>
              <a:rPr lang="en-US" sz="3200" dirty="0"/>
              <a:t>Heterozygous FH, 1 in 500 individuals</a:t>
            </a:r>
          </a:p>
          <a:p>
            <a:pPr lvl="1"/>
            <a:r>
              <a:rPr lang="en-US" sz="2800" dirty="0"/>
              <a:t>Cells display ½ the normal amount of functional LDL receptors</a:t>
            </a:r>
          </a:p>
          <a:p>
            <a:pPr lvl="1"/>
            <a:r>
              <a:rPr lang="en-US" sz="2800" dirty="0"/>
              <a:t>CAC scores noted as early as 11 </a:t>
            </a:r>
            <a:r>
              <a:rPr lang="en-US" sz="2800" dirty="0" err="1"/>
              <a:t>yo</a:t>
            </a:r>
            <a:endParaRPr lang="en-US" sz="2800" dirty="0"/>
          </a:p>
          <a:p>
            <a:pPr lvl="1"/>
            <a:r>
              <a:rPr lang="en-US" sz="2800" dirty="0"/>
              <a:t>Premature CAD (&lt; 55 in men, &lt; 65 in women), and clinical signs</a:t>
            </a:r>
          </a:p>
          <a:p>
            <a:r>
              <a:rPr lang="en-US" sz="3200" dirty="0"/>
              <a:t>TX: Early Intervention of Lipid Management</a:t>
            </a:r>
          </a:p>
        </p:txBody>
      </p:sp>
    </p:spTree>
    <p:extLst>
      <p:ext uri="{BB962C8B-B14F-4D97-AF65-F5344CB8AC3E}">
        <p14:creationId xmlns:p14="http://schemas.microsoft.com/office/powerpoint/2010/main" val="105593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Familial Hypercholesterolemia: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08961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2. Familial </a:t>
            </a:r>
            <a:r>
              <a:rPr lang="en-US" sz="3600" b="1" dirty="0">
                <a:solidFill>
                  <a:schemeClr val="accent1"/>
                </a:solidFill>
              </a:rPr>
              <a:t>Defective Apolipoprotein B</a:t>
            </a:r>
          </a:p>
          <a:p>
            <a:pPr lvl="1"/>
            <a:r>
              <a:rPr lang="en-US" sz="3200" dirty="0"/>
              <a:t>Autosomal dominant disorder</a:t>
            </a:r>
          </a:p>
          <a:p>
            <a:pPr lvl="1"/>
            <a:r>
              <a:rPr lang="en-US" sz="3200" dirty="0"/>
              <a:t>Defect in the Apo B protein results in impaired binding of LDL particles to LDL receptor</a:t>
            </a:r>
          </a:p>
          <a:p>
            <a:pPr lvl="1"/>
            <a:r>
              <a:rPr lang="en-US" sz="3200" dirty="0"/>
              <a:t>1 in 750 Caucasians with HLD</a:t>
            </a:r>
          </a:p>
          <a:p>
            <a:pPr lvl="1"/>
            <a:r>
              <a:rPr lang="en-US" sz="3200" dirty="0"/>
              <a:t>Clinical </a:t>
            </a:r>
            <a:r>
              <a:rPr lang="en-US" sz="3200" dirty="0" err="1"/>
              <a:t>Manefestations</a:t>
            </a:r>
            <a:r>
              <a:rPr lang="en-US" sz="3200" dirty="0"/>
              <a:t>: Similar to Defective LDL Receptor, cholesterol deposit symptoms and Early Coronary Artery </a:t>
            </a:r>
            <a:r>
              <a:rPr lang="en-US" sz="3200" dirty="0" err="1"/>
              <a:t>Dz</a:t>
            </a:r>
            <a:endParaRPr lang="en-US" sz="3200" dirty="0"/>
          </a:p>
          <a:p>
            <a:pPr lvl="1"/>
            <a:r>
              <a:rPr lang="en-US" sz="3200" dirty="0"/>
              <a:t>Treatment: Early Intervention of Lipid Management</a:t>
            </a:r>
          </a:p>
          <a:p>
            <a:pPr marL="457200" lvl="1" indent="0">
              <a:buNone/>
            </a:pPr>
            <a:endParaRPr lang="en-US" sz="3200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563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/>
              <a:t>Genetic Disorders of Lipid Metabolism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/>
              <a:t>Familial Hypertriglyceridemia</a:t>
            </a:r>
          </a:p>
          <a:p>
            <a:r>
              <a:rPr lang="en-US" sz="4000" dirty="0"/>
              <a:t>Two main causes: over production, under utilization</a:t>
            </a:r>
          </a:p>
          <a:p>
            <a:endParaRPr lang="en-US" sz="4000" dirty="0"/>
          </a:p>
          <a:p>
            <a:r>
              <a:rPr lang="en-US" sz="3200" dirty="0"/>
              <a:t>TG levels &gt;750 can cause </a:t>
            </a:r>
            <a:r>
              <a:rPr lang="en-US" sz="3200" u="sng" dirty="0"/>
              <a:t>pancreatitis</a:t>
            </a:r>
            <a:endParaRPr lang="en-US" sz="3200" dirty="0"/>
          </a:p>
          <a:p>
            <a:pPr lvl="2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36255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Familial Hypertriglyceridemia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</a:t>
            </a:r>
            <a:r>
              <a:rPr lang="en-US" sz="3200" b="1" dirty="0"/>
              <a:t>. Overproduction</a:t>
            </a:r>
          </a:p>
          <a:p>
            <a:r>
              <a:rPr lang="en-US" sz="3200" dirty="0"/>
              <a:t>Overproduction of hepatic VLDL, mutation/cause unknown</a:t>
            </a:r>
          </a:p>
          <a:p>
            <a:r>
              <a:rPr lang="en-US" sz="3200" dirty="0"/>
              <a:t>Secondary factors (DM, alcohol, estrogen) can exacerbate this condition</a:t>
            </a:r>
          </a:p>
          <a:p>
            <a:r>
              <a:rPr lang="en-US" sz="3200" dirty="0"/>
              <a:t>Tx: Low carbohydrate diet trial and or low fat intake (to avoid worsening the problem), Fish Oil/</a:t>
            </a:r>
            <a:r>
              <a:rPr lang="en-US" sz="3200" dirty="0" err="1"/>
              <a:t>Vacepa</a:t>
            </a:r>
            <a:r>
              <a:rPr lang="en-US" sz="3200" dirty="0"/>
              <a:t>, Historically Fibrates </a:t>
            </a:r>
            <a:r>
              <a:rPr lang="en-US" sz="1600" dirty="0"/>
              <a:t>(we will discuss in the pharm section)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88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72E2-365F-4180-A73C-9F7F0836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Familial Hypertriglyceridemia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677B9-C5D0-478F-9098-2F804DD74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338" y="1825625"/>
            <a:ext cx="11358562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2. Under Utilization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Lipoprotein Lipase Deficiency</a:t>
            </a:r>
          </a:p>
          <a:p>
            <a:pPr lvl="1"/>
            <a:r>
              <a:rPr lang="en-US" sz="2800" dirty="0"/>
              <a:t>Mutation in the LPL gene resulting in deficiency of LPL synthesis/function</a:t>
            </a:r>
          </a:p>
          <a:p>
            <a:pPr lvl="1"/>
            <a:r>
              <a:rPr lang="en-US" sz="2800" dirty="0"/>
              <a:t>This leads to increased circulating Chylomicron and VLDL and severe hypertriglyceridemia</a:t>
            </a:r>
          </a:p>
          <a:p>
            <a:pPr lvl="1"/>
            <a:r>
              <a:rPr lang="en-US" sz="2800" dirty="0"/>
              <a:t>Tx:</a:t>
            </a:r>
          </a:p>
          <a:p>
            <a:pPr lvl="2"/>
            <a:r>
              <a:rPr lang="en-US" sz="2800" dirty="0"/>
              <a:t>Low fat diet is primary treatment (avoid creating chylomicrons)</a:t>
            </a:r>
          </a:p>
          <a:p>
            <a:pPr lvl="2"/>
            <a:r>
              <a:rPr lang="en-US" sz="2800" dirty="0"/>
              <a:t>Secondary factors should be addressed</a:t>
            </a:r>
          </a:p>
          <a:p>
            <a:pPr lvl="2"/>
            <a:r>
              <a:rPr lang="en-US" sz="2800" dirty="0"/>
              <a:t>VLDL/TG lowering medications ( fish oil/</a:t>
            </a:r>
            <a:r>
              <a:rPr lang="en-US" sz="2800" dirty="0" err="1"/>
              <a:t>Vacepa</a:t>
            </a:r>
            <a:r>
              <a:rPr lang="en-US" sz="2800" dirty="0"/>
              <a:t>)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555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E9132-05B7-48B6-B5D6-C10BB1E6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Dyslipidemia Diagnostics</a:t>
            </a:r>
          </a:p>
        </p:txBody>
      </p:sp>
    </p:spTree>
    <p:extLst>
      <p:ext uri="{BB962C8B-B14F-4D97-AF65-F5344CB8AC3E}">
        <p14:creationId xmlns:p14="http://schemas.microsoft.com/office/powerpoint/2010/main" val="40453290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46CD-2166-4181-90E6-A7F6D7B1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DF18-C8F3-4AEF-8167-F665201BA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Labs checked in a fasted state (9-12 hours)</a:t>
            </a:r>
          </a:p>
          <a:p>
            <a:pPr lvl="1"/>
            <a:r>
              <a:rPr lang="en-US" sz="3200" dirty="0"/>
              <a:t>In order to allow Chylomicrons to clear from circulation. </a:t>
            </a:r>
          </a:p>
          <a:p>
            <a:r>
              <a:rPr lang="en-US" sz="3600" dirty="0"/>
              <a:t>Lab results should be confirmed with 2</a:t>
            </a:r>
            <a:r>
              <a:rPr lang="en-US" sz="3600" baseline="30000" dirty="0"/>
              <a:t>nd</a:t>
            </a:r>
            <a:r>
              <a:rPr lang="en-US" sz="3600" dirty="0"/>
              <a:t> check if abnormal and no historical data</a:t>
            </a:r>
          </a:p>
        </p:txBody>
      </p:sp>
    </p:spTree>
    <p:extLst>
      <p:ext uri="{BB962C8B-B14F-4D97-AF65-F5344CB8AC3E}">
        <p14:creationId xmlns:p14="http://schemas.microsoft.com/office/powerpoint/2010/main" val="35617290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46CD-2166-4181-90E6-A7F6D7B1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DF18-C8F3-4AEF-8167-F665201B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4" y="1825625"/>
            <a:ext cx="111970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LIPID PANEL</a:t>
            </a:r>
          </a:p>
          <a:p>
            <a:r>
              <a:rPr lang="en-US" sz="3200" u="sng" dirty="0"/>
              <a:t>Measured directly: Total Cholesterol, TG, HDL cholesterol</a:t>
            </a:r>
          </a:p>
          <a:p>
            <a:r>
              <a:rPr lang="en-US" sz="3200" u="sng" dirty="0"/>
              <a:t>Calculated: VLDL cholesterol, LDL cholesterol</a:t>
            </a:r>
          </a:p>
          <a:p>
            <a:pPr lvl="1"/>
            <a:r>
              <a:rPr lang="en-US" sz="3200" dirty="0"/>
              <a:t>IF TG &lt; 400: </a:t>
            </a:r>
          </a:p>
          <a:p>
            <a:pPr lvl="2"/>
            <a:r>
              <a:rPr lang="en-US" sz="3000" dirty="0"/>
              <a:t>VLDL c = TG/5</a:t>
            </a:r>
          </a:p>
          <a:p>
            <a:pPr lvl="2"/>
            <a:r>
              <a:rPr lang="en-US" sz="3000" b="1" dirty="0" err="1"/>
              <a:t>Friedewald</a:t>
            </a:r>
            <a:r>
              <a:rPr lang="en-US" sz="3000" b="1" dirty="0"/>
              <a:t> Equation</a:t>
            </a:r>
            <a:r>
              <a:rPr lang="en-US" sz="3000" dirty="0"/>
              <a:t>: LDL c = Total Cholesterol – VLDL c – HDL c</a:t>
            </a:r>
          </a:p>
          <a:p>
            <a:pPr lvl="1"/>
            <a:r>
              <a:rPr lang="en-US" sz="3200" dirty="0"/>
              <a:t>IF TG &gt; 400, VLDL c and LDL c unable to be determined</a:t>
            </a:r>
          </a:p>
        </p:txBody>
      </p:sp>
    </p:spTree>
    <p:extLst>
      <p:ext uri="{BB962C8B-B14F-4D97-AF65-F5344CB8AC3E}">
        <p14:creationId xmlns:p14="http://schemas.microsoft.com/office/powerpoint/2010/main" val="792753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127F-B091-4733-A728-8FB1BD92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BFA30-A184-4B2B-8BFB-496DBEE91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465" y="1690688"/>
            <a:ext cx="11547987" cy="4990331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Example:</a:t>
            </a:r>
          </a:p>
          <a:p>
            <a:r>
              <a:rPr lang="en-US" sz="3600" dirty="0"/>
              <a:t>Directly Measured:</a:t>
            </a:r>
          </a:p>
          <a:p>
            <a:pPr lvl="1"/>
            <a:r>
              <a:rPr lang="en-US" sz="3200" dirty="0"/>
              <a:t>Total Cholesterol = 200</a:t>
            </a:r>
          </a:p>
          <a:p>
            <a:pPr lvl="1"/>
            <a:r>
              <a:rPr lang="en-US" sz="3200" dirty="0"/>
              <a:t>Triglycerides = 150</a:t>
            </a:r>
          </a:p>
          <a:p>
            <a:pPr lvl="1"/>
            <a:r>
              <a:rPr lang="en-US" sz="3200" dirty="0"/>
              <a:t>HDL = 50</a:t>
            </a:r>
          </a:p>
          <a:p>
            <a:pPr lvl="1"/>
            <a:endParaRPr lang="en-US" sz="3200" dirty="0"/>
          </a:p>
          <a:p>
            <a:r>
              <a:rPr lang="en-US" sz="3600" dirty="0"/>
              <a:t>What are the LDL cholesterol and VLDL cholesterol values?</a:t>
            </a:r>
          </a:p>
          <a:p>
            <a:pPr lvl="1"/>
            <a:r>
              <a:rPr lang="en-US" sz="3200" dirty="0" err="1"/>
              <a:t>VLDLc</a:t>
            </a:r>
            <a:r>
              <a:rPr lang="en-US" sz="3200" dirty="0"/>
              <a:t> = 150/5 =30</a:t>
            </a:r>
          </a:p>
          <a:p>
            <a:pPr lvl="1"/>
            <a:r>
              <a:rPr lang="en-US" sz="3200" dirty="0" err="1"/>
              <a:t>LDLc</a:t>
            </a:r>
            <a:r>
              <a:rPr lang="en-US" sz="3200" dirty="0"/>
              <a:t> = 200-30-50=120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0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FDD6-2547-49E8-9293-DC824D18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7A62B2-18CA-4265-BC5D-B695917E5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990476"/>
              </p:ext>
            </p:extLst>
          </p:nvPr>
        </p:nvGraphicFramePr>
        <p:xfrm>
          <a:off x="98376" y="1502196"/>
          <a:ext cx="11995247" cy="53558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82615">
                  <a:extLst>
                    <a:ext uri="{9D8B030D-6E8A-4147-A177-3AD203B41FA5}">
                      <a16:colId xmlns:a16="http://schemas.microsoft.com/office/drawing/2014/main" val="26355306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972595693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426931063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3497287310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4078820588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3198245726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224415301"/>
                    </a:ext>
                  </a:extLst>
                </a:gridCol>
                <a:gridCol w="1862992">
                  <a:extLst>
                    <a:ext uri="{9D8B030D-6E8A-4147-A177-3AD203B41FA5}">
                      <a16:colId xmlns:a16="http://schemas.microsoft.com/office/drawing/2014/main" val="3429613898"/>
                    </a:ext>
                  </a:extLst>
                </a:gridCol>
              </a:tblGrid>
              <a:tr h="647348">
                <a:tc gridSpan="8">
                  <a:txBody>
                    <a:bodyPr/>
                    <a:lstStyle/>
                    <a:p>
                      <a:r>
                        <a:rPr lang="en-US" sz="2400" dirty="0"/>
                        <a:t>Lipid Diagnostics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11831"/>
                  </a:ext>
                </a:extLst>
              </a:tr>
              <a:tr h="647348"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LDL cholesterol </a:t>
                      </a:r>
                      <a:r>
                        <a:rPr lang="en-US" sz="1600" dirty="0"/>
                        <a:t>(mg/dL)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Total Cholesterol </a:t>
                      </a:r>
                      <a:r>
                        <a:rPr lang="en-US" sz="1200" dirty="0"/>
                        <a:t>(mg/dL)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HDL cholesterol </a:t>
                      </a:r>
                      <a:r>
                        <a:rPr lang="en-US" sz="1100" dirty="0"/>
                        <a:t>(mg/dL)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TG (mg/dL)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77723"/>
                  </a:ext>
                </a:extLst>
              </a:tr>
              <a:tr h="647348"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&lt;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Desirable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Protective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&gt;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&lt;150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350628"/>
                  </a:ext>
                </a:extLst>
              </a:tr>
              <a:tr h="704398"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Near Optimal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100-129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Borderline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200-239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Borderline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41-59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Borderline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150-199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858619"/>
                  </a:ext>
                </a:extLst>
              </a:tr>
              <a:tr h="708868"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Borderline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130-159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&gt; 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&lt;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&gt;200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011207"/>
                  </a:ext>
                </a:extLst>
              </a:tr>
              <a:tr h="647348"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160-189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US" sz="2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US" sz="2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At risk for Pancreatitis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&gt;500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377255"/>
                  </a:ext>
                </a:extLst>
              </a:tr>
              <a:tr h="647348"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dirty="0"/>
                        <a:t>&gt;189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US" sz="2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u="none" strike="noStrike" kern="1200" dirty="0">
                          <a:effectLst/>
                        </a:rPr>
                        <a:t>♀- goal 50</a:t>
                      </a:r>
                      <a:r>
                        <a:rPr lang="en-US" sz="2500" kern="1200" dirty="0">
                          <a:effectLst/>
                        </a:rPr>
                        <a:t>​+</a:t>
                      </a:r>
                      <a:br>
                        <a:rPr lang="en-US" sz="2500" kern="1200" dirty="0">
                          <a:effectLst/>
                        </a:rPr>
                      </a:br>
                      <a:r>
                        <a:rPr lang="en-US" sz="2500" u="none" strike="noStrike" kern="1200" dirty="0">
                          <a:effectLst/>
                        </a:rPr>
                        <a:t>♂- goal 40+</a:t>
                      </a:r>
                      <a:endParaRPr lang="en-US" sz="25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endParaRPr lang="en-US" sz="2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07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2087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FDD6-2547-49E8-9293-DC824D187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		</a:t>
            </a:r>
            <a:r>
              <a:rPr lang="en-US" sz="5400" b="1" dirty="0">
                <a:solidFill>
                  <a:schemeClr val="accent4"/>
                </a:solidFill>
              </a:rPr>
              <a:t>NMR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2050" name="Picture 2" descr="NMR data">
            <a:extLst>
              <a:ext uri="{FF2B5EF4-FFF2-40B4-BE49-F238E27FC236}">
                <a16:creationId xmlns:a16="http://schemas.microsoft.com/office/drawing/2014/main" id="{DC9848C9-0965-4949-92E8-E49B2482F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655" y="1393152"/>
            <a:ext cx="9712689" cy="531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237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D9F4-587E-4FFF-8EDB-375F067D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	</a:t>
            </a:r>
            <a:r>
              <a:rPr lang="en-US" sz="4800" b="1" dirty="0" err="1">
                <a:solidFill>
                  <a:srgbClr val="FFC000"/>
                </a:solidFill>
              </a:rPr>
              <a:t>hs</a:t>
            </a:r>
            <a:r>
              <a:rPr lang="en-US" sz="4800" b="1" dirty="0">
                <a:solidFill>
                  <a:srgbClr val="FFC000"/>
                </a:solidFill>
              </a:rPr>
              <a:t>-CRP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CB78-15F9-4DB1-BCDE-757CDE563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The acute phase reactant Value appears to be associated with underlying </a:t>
            </a:r>
            <a:r>
              <a:rPr lang="en-US" i="1" dirty="0"/>
              <a:t>atherosclerosis</a:t>
            </a:r>
            <a:r>
              <a:rPr lang="en-US" dirty="0"/>
              <a:t> and has been </a:t>
            </a:r>
            <a:r>
              <a:rPr lang="en-US" b="1" i="1" dirty="0"/>
              <a:t>postulated</a:t>
            </a:r>
            <a:r>
              <a:rPr lang="en-US" dirty="0"/>
              <a:t> to reflect the risk of acute coronary syndrome (ACS)​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CRP is associated with the risk of </a:t>
            </a:r>
            <a:r>
              <a:rPr lang="en-US" b="1" i="1" u="sng" dirty="0"/>
              <a:t>future events</a:t>
            </a:r>
            <a:r>
              <a:rPr lang="en-US" b="1" i="1" dirty="0"/>
              <a:t> </a:t>
            </a:r>
            <a:r>
              <a:rPr lang="en-US" dirty="0"/>
              <a:t>in patients with stable angina, but is only weakly associated with the extent of CAD…​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Among patients with </a:t>
            </a:r>
            <a:r>
              <a:rPr lang="en-US" b="1" dirty="0"/>
              <a:t>known stable coronary disease</a:t>
            </a:r>
            <a:r>
              <a:rPr lang="en-US" dirty="0"/>
              <a:t>, a strong positive correlation between CRP measured at baseline and future acute coronary events has been demonstrated in </a:t>
            </a:r>
            <a:r>
              <a:rPr lang="en-US" i="1" dirty="0"/>
              <a:t>most</a:t>
            </a:r>
            <a:r>
              <a:rPr lang="en-US" dirty="0"/>
              <a:t> studies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636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72A9-D83D-4C80-A116-9B0FBB49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	</a:t>
            </a:r>
            <a:r>
              <a:rPr lang="en-US" sz="4800" b="1" dirty="0" err="1">
                <a:solidFill>
                  <a:srgbClr val="FFC000"/>
                </a:solidFill>
              </a:rPr>
              <a:t>hs</a:t>
            </a:r>
            <a:r>
              <a:rPr lang="en-US" sz="4800" b="1" dirty="0">
                <a:solidFill>
                  <a:srgbClr val="FFC000"/>
                </a:solidFill>
              </a:rPr>
              <a:t>-CRP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42592-218A-4F39-9441-545D769A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In a large study using the above recommendations from the CDC/AHA to categorize patients as:​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Low: &lt; 1 mg/L​</a:t>
            </a:r>
          </a:p>
          <a:p>
            <a:pPr fontAlgn="base"/>
            <a:r>
              <a:rPr lang="en-US" dirty="0"/>
              <a:t>Average: 1-3 mg/L​</a:t>
            </a:r>
          </a:p>
          <a:p>
            <a:pPr fontAlgn="base"/>
            <a:r>
              <a:rPr lang="en-US" dirty="0"/>
              <a:t>High-risk: &gt; 3 mg/L​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Patients had </a:t>
            </a:r>
            <a:r>
              <a:rPr lang="en-US" dirty="0" err="1"/>
              <a:t>hs</a:t>
            </a:r>
            <a:r>
              <a:rPr lang="en-US" dirty="0"/>
              <a:t>-CRP measured at baseline and were followed for outcomes of cardiovascular death, MI or stroke over a mean follow-up of 4.8 years.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3128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D300-C146-4ABA-83A4-D31A49BB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 		</a:t>
            </a:r>
            <a:r>
              <a:rPr lang="en-US" sz="6000" b="1" dirty="0">
                <a:solidFill>
                  <a:srgbClr val="FFC000"/>
                </a:solidFill>
              </a:rPr>
              <a:t>CAC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CF387-F43C-4C07-ABD4-4FC1A084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057" y="1690688"/>
            <a:ext cx="11846943" cy="516731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Low dose CT multi-detector scan that measures calcium plaques  within the coronary arteries for the sake of risk stratification. A positive scan confirms the presence of coronary artery disease.​</a:t>
            </a:r>
          </a:p>
          <a:p>
            <a:pPr fontAlgn="base"/>
            <a:r>
              <a:rPr lang="en-US" dirty="0"/>
              <a:t>Generally performed in ~10-20 min​</a:t>
            </a:r>
          </a:p>
          <a:p>
            <a:pPr fontAlgn="base"/>
            <a:r>
              <a:rPr lang="en-US" dirty="0"/>
              <a:t>Prep: No caffeine, smoking or exercise for 4 hours prior to your appointment.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b="1" dirty="0"/>
              <a:t>Plaque burden: 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0: 		No identifiable </a:t>
            </a:r>
            <a:r>
              <a:rPr lang="en-US" dirty="0" err="1"/>
              <a:t>dz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1-99:		Mild </a:t>
            </a:r>
            <a:r>
              <a:rPr lang="en-US" dirty="0" err="1"/>
              <a:t>dz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100-399: 	Moderate </a:t>
            </a:r>
            <a:r>
              <a:rPr lang="en-US" dirty="0" err="1"/>
              <a:t>dz</a:t>
            </a:r>
            <a:r>
              <a:rPr lang="en-US" dirty="0"/>
              <a:t>​</a:t>
            </a:r>
            <a:br>
              <a:rPr lang="en-US" dirty="0"/>
            </a:br>
            <a:r>
              <a:rPr lang="en-US" dirty="0"/>
              <a:t>&gt;400: 		Severe </a:t>
            </a:r>
            <a:r>
              <a:rPr lang="en-US" dirty="0" err="1"/>
              <a:t>Dz</a:t>
            </a:r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5CAE583-6EC2-46EC-9C96-2FD52873E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370" y="3924008"/>
            <a:ext cx="3841630" cy="2933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951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CB3E-2CE3-4068-89EC-6C5890A5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7D1DB-E158-4745-B68E-FDCC0A33A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dirty="0"/>
              <a:t>What patients should we order HLD labs on? 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Clear evidence supports those with ASCVD or risk equivalent</a:t>
            </a:r>
          </a:p>
          <a:p>
            <a:pPr fontAlgn="base"/>
            <a:r>
              <a:rPr lang="en-US" dirty="0"/>
              <a:t>However, the evidence in screening those </a:t>
            </a:r>
            <a:r>
              <a:rPr lang="en-US" i="1" u="sng" dirty="0"/>
              <a:t>without</a:t>
            </a:r>
            <a:r>
              <a:rPr lang="en-US" dirty="0"/>
              <a:t> est. heart disease (including first degree relative) is less clear: ​</a:t>
            </a:r>
            <a:br>
              <a:rPr lang="en-US" dirty="0"/>
            </a:b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2013 ACC/AHA guidelines recommend </a:t>
            </a:r>
            <a:r>
              <a:rPr lang="en-US" b="1" i="1" u="sng" dirty="0"/>
              <a:t>screening</a:t>
            </a:r>
            <a:r>
              <a:rPr lang="en-US" b="1" i="1" dirty="0"/>
              <a:t>:</a:t>
            </a:r>
            <a:r>
              <a:rPr lang="en-US" b="1" i="1" u="sng" dirty="0"/>
              <a:t> </a:t>
            </a:r>
            <a:r>
              <a:rPr lang="en-US" b="1" dirty="0"/>
              <a:t> </a:t>
            </a: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    - All adults &gt; 21 y/o</a:t>
            </a: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    - Then repeated every 3-5 years there after (unless targeted </a:t>
            </a:r>
            <a:r>
              <a:rPr lang="en-US" b="1" dirty="0" err="1"/>
              <a:t>tx</a:t>
            </a:r>
            <a:r>
              <a:rPr lang="en-US" b="1" dirty="0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3588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ED78-0665-4567-8E73-F2421EE7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0CDD-3EC9-492B-A918-89DC06C24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5" y="1825625"/>
            <a:ext cx="11352363" cy="4851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There are calculations that can aid clinicians in discussing </a:t>
            </a:r>
            <a:r>
              <a:rPr lang="en-US" sz="3200" b="1" u="sng" dirty="0"/>
              <a:t>relative ASCVD risks </a:t>
            </a:r>
            <a:r>
              <a:rPr lang="en-US" sz="3200" dirty="0"/>
              <a:t>to the patient, </a:t>
            </a:r>
            <a:r>
              <a:rPr lang="en-US" sz="3200" b="1" dirty="0"/>
              <a:t>in a general 10 year survival: 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  -- </a:t>
            </a:r>
            <a:r>
              <a:rPr lang="en-US" sz="3200" b="1" dirty="0"/>
              <a:t>Framingham Risk Assessment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  -- </a:t>
            </a:r>
            <a:r>
              <a:rPr lang="en-US" sz="3200" b="1" dirty="0"/>
              <a:t>10 year Atherosclerotic Cardiovascular Disease Risk Calculator (ASCVD)</a:t>
            </a:r>
          </a:p>
          <a:p>
            <a:pPr marL="0" indent="0" fontAlgn="base">
              <a:buNone/>
            </a:pPr>
            <a:endParaRPr lang="en-US" sz="3200" dirty="0"/>
          </a:p>
          <a:p>
            <a:pPr fontAlgn="base"/>
            <a:r>
              <a:rPr lang="en-US" sz="3200" dirty="0"/>
              <a:t>These are a means to provide </a:t>
            </a:r>
            <a:r>
              <a:rPr lang="en-US" sz="3200" b="1" dirty="0"/>
              <a:t>estimates</a:t>
            </a:r>
            <a:r>
              <a:rPr lang="en-US" sz="3200" dirty="0"/>
              <a:t> and </a:t>
            </a:r>
            <a:r>
              <a:rPr lang="en-US" sz="3200" b="1" dirty="0"/>
              <a:t>probability</a:t>
            </a:r>
            <a:r>
              <a:rPr lang="en-US" sz="3200" dirty="0"/>
              <a:t> of CVD to assist in providing the patient with </a:t>
            </a:r>
            <a:r>
              <a:rPr lang="en-US" sz="3200" b="1" dirty="0"/>
              <a:t>the </a:t>
            </a:r>
            <a:r>
              <a:rPr lang="en-US" sz="3200" b="1" i="1" u="sng" dirty="0"/>
              <a:t>most ideal preventive strategy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756982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F82E8-98D0-4C90-B6E3-0F01AA98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Framingham Heart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D0A5-B978-490E-AFFC-3B48898D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1999" cy="5167312"/>
          </a:xfrm>
        </p:spPr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Helped to lay the foundation of CVD risk assessments and predictive mortality​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- Study began in 1948 with &gt; 5,000 pts, first published in 1998​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​- Though originally male Caucasian population of patients of European descent; it has come to include Black patients and Women​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​</a:t>
            </a:r>
            <a:br>
              <a:rPr lang="en-US" sz="3000" dirty="0">
                <a:latin typeface="+mj-lt"/>
              </a:rPr>
            </a:br>
            <a:r>
              <a:rPr lang="en-US" sz="3000" b="1" u="sng" dirty="0">
                <a:latin typeface="+mj-lt"/>
              </a:rPr>
              <a:t>Predictive score is based on: </a:t>
            </a:r>
            <a:r>
              <a:rPr lang="en-US" sz="3000" dirty="0">
                <a:latin typeface="+mj-lt"/>
              </a:rPr>
              <a:t>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Age​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Gender​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Total or LDL cholesterol (mg/dL)​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HDL cholesterol (mg/dL)​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Systolic blood pressure (mmHg)​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Diabetes mellitus (yes or no)​</a:t>
            </a:r>
          </a:p>
          <a:p>
            <a:pPr marL="0" indent="0" fontAlgn="base">
              <a:buNone/>
            </a:pPr>
            <a:r>
              <a:rPr lang="en-US" sz="3000" dirty="0">
                <a:latin typeface="+mj-lt"/>
              </a:rPr>
              <a:t>      - Current smoking (yes or no)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2D1B94-618F-42D0-BA90-6907A9F5230B}"/>
              </a:ext>
            </a:extLst>
          </p:cNvPr>
          <p:cNvSpPr txBox="1"/>
          <p:nvPr/>
        </p:nvSpPr>
        <p:spPr>
          <a:xfrm>
            <a:off x="5796951" y="3016162"/>
            <a:ext cx="2950234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u="sng" dirty="0">
                <a:latin typeface="+mj-lt"/>
              </a:rPr>
              <a:t>End Points of risk: </a:t>
            </a:r>
            <a:r>
              <a:rPr lang="en-US" sz="2800" dirty="0">
                <a:latin typeface="+mj-lt"/>
              </a:rPr>
              <a:t>​</a:t>
            </a:r>
          </a:p>
          <a:p>
            <a:pPr fontAlgn="base"/>
            <a:r>
              <a:rPr lang="en-US" sz="2800" dirty="0">
                <a:latin typeface="+mj-lt"/>
              </a:rPr>
              <a:t>- CHD death​</a:t>
            </a:r>
          </a:p>
          <a:p>
            <a:pPr fontAlgn="base"/>
            <a:r>
              <a:rPr lang="en-US" sz="2800" dirty="0">
                <a:latin typeface="+mj-lt"/>
              </a:rPr>
              <a:t>- Nonfatal MI​</a:t>
            </a:r>
          </a:p>
          <a:p>
            <a:pPr fontAlgn="base"/>
            <a:r>
              <a:rPr lang="en-US" sz="2800" dirty="0">
                <a:latin typeface="+mj-lt"/>
              </a:rPr>
              <a:t>- Unstable angina​</a:t>
            </a:r>
          </a:p>
          <a:p>
            <a:pPr fontAlgn="base"/>
            <a:r>
              <a:rPr lang="en-US" sz="2800" dirty="0">
                <a:latin typeface="+mj-lt"/>
              </a:rPr>
              <a:t>- Stable angina</a:t>
            </a:r>
          </a:p>
          <a:p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318FF8B-EFEE-4BB5-8C58-EEDB04AA8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097" y="4091781"/>
            <a:ext cx="3749903" cy="267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685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BE67-66B8-4EAD-9234-AB1B4366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Diagnostics -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C605-9481-4EE1-BC34-7A699E6E0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Many Calculators Exist:</a:t>
            </a:r>
          </a:p>
          <a:p>
            <a:pPr lvl="1"/>
            <a:r>
              <a:rPr lang="en-US" sz="3200" dirty="0"/>
              <a:t>Framingham Risk Score</a:t>
            </a:r>
          </a:p>
          <a:p>
            <a:pPr lvl="1"/>
            <a:r>
              <a:rPr lang="en-US" sz="3200" dirty="0"/>
              <a:t>MESA score</a:t>
            </a:r>
          </a:p>
          <a:p>
            <a:pPr lvl="1"/>
            <a:r>
              <a:rPr lang="en-US" sz="3200" dirty="0"/>
              <a:t>ACC/AHA ASCVD Risk </a:t>
            </a:r>
          </a:p>
          <a:p>
            <a:pPr lvl="2"/>
            <a:r>
              <a:rPr lang="en-US" sz="3200" dirty="0"/>
              <a:t>Some argue the ACC/AHA may over-estimate risk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>
                <a:hlinkClick r:id="rId3"/>
              </a:rPr>
              <a:t>http://tools.acc.org/ASCVD-Risk-Estimator-Plus/#!/calculate/estimate/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2002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79DD97-9134-4F8F-8632-F56F8417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52135" cy="1325563"/>
          </a:xfrm>
        </p:spPr>
        <p:txBody>
          <a:bodyPr/>
          <a:lstStyle/>
          <a:p>
            <a:r>
              <a:rPr lang="en-US" dirty="0"/>
              <a:t>ASCVD Risk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156184-E0F6-4F00-AACC-500E204BFC8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l="24865" t="16704" r="26518" b="5617"/>
          <a:stretch/>
        </p:blipFill>
        <p:spPr>
          <a:xfrm>
            <a:off x="4591050" y="44450"/>
            <a:ext cx="7600950" cy="68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4334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31E1E6-4DAB-481A-B528-16AD2210F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Dyslipidemia Treatment</a:t>
            </a:r>
          </a:p>
        </p:txBody>
      </p:sp>
    </p:spTree>
    <p:extLst>
      <p:ext uri="{BB962C8B-B14F-4D97-AF65-F5344CB8AC3E}">
        <p14:creationId xmlns:p14="http://schemas.microsoft.com/office/powerpoint/2010/main" val="2956312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26" y="1825625"/>
            <a:ext cx="11137692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en-US" sz="3600" dirty="0"/>
              <a:t> TC or LDL c</a:t>
            </a:r>
          </a:p>
          <a:p>
            <a:pPr lvl="1"/>
            <a:r>
              <a:rPr lang="en-US" sz="3200" dirty="0"/>
              <a:t>Treatment has been shown to slow down CAD </a:t>
            </a:r>
            <a:r>
              <a:rPr lang="en-US" sz="3200" dirty="0" err="1"/>
              <a:t>dz</a:t>
            </a:r>
            <a:r>
              <a:rPr lang="en-US" sz="3200" dirty="0"/>
              <a:t> progression</a:t>
            </a:r>
          </a:p>
          <a:p>
            <a:pPr lvl="1"/>
            <a:r>
              <a:rPr lang="en-US" sz="3200" dirty="0"/>
              <a:t>15% ↓ in CAD mortality for every 10% ↓ in serum cholesterol</a:t>
            </a:r>
          </a:p>
          <a:p>
            <a:pPr lvl="1"/>
            <a:endParaRPr lang="en-US" sz="3200" dirty="0"/>
          </a:p>
          <a:p>
            <a:r>
              <a:rPr lang="en-US" sz="3600" dirty="0"/>
              <a:t>Impact of HDL/TG less clear</a:t>
            </a:r>
          </a:p>
          <a:p>
            <a:pPr lvl="1"/>
            <a:r>
              <a:rPr lang="en-US" sz="3200" dirty="0"/>
              <a:t>Elevated TG shows some correlation with CAD</a:t>
            </a:r>
          </a:p>
          <a:p>
            <a:pPr lvl="1"/>
            <a:r>
              <a:rPr lang="en-US" sz="3200" dirty="0"/>
              <a:t>A Low HDL shows some correlation with CAD</a:t>
            </a:r>
          </a:p>
        </p:txBody>
      </p:sp>
    </p:spTree>
    <p:extLst>
      <p:ext uri="{BB962C8B-B14F-4D97-AF65-F5344CB8AC3E}">
        <p14:creationId xmlns:p14="http://schemas.microsoft.com/office/powerpoint/2010/main" val="23445804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09A0-C315-42D4-99AF-F4B71684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4AB8-9DC2-4707-8001-07D204B6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524000"/>
            <a:ext cx="11715750" cy="5151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0B050"/>
                </a:solidFill>
              </a:rPr>
              <a:t>Lifestyle </a:t>
            </a:r>
            <a:r>
              <a:rPr lang="en-US" sz="2900" dirty="0">
                <a:solidFill>
                  <a:srgbClr val="00B050"/>
                </a:solidFill>
              </a:rPr>
              <a:t>changes first line</a:t>
            </a:r>
          </a:p>
          <a:p>
            <a:r>
              <a:rPr lang="en-US" sz="2900" dirty="0"/>
              <a:t>↓ Fat intake, mainly saturated fat intake</a:t>
            </a:r>
          </a:p>
          <a:p>
            <a:pPr lvl="1"/>
            <a:r>
              <a:rPr lang="en-US" sz="2900" b="1" dirty="0"/>
              <a:t>Mediterranean diet </a:t>
            </a:r>
            <a:r>
              <a:rPr lang="en-US" sz="2900" dirty="0"/>
              <a:t>has been shown to lower LDLs</a:t>
            </a:r>
          </a:p>
          <a:p>
            <a:pPr lvl="1"/>
            <a:r>
              <a:rPr lang="en-US" sz="2900" dirty="0"/>
              <a:t>Encourage poly unsaturated fats, Omega 3’s (fish, nuts)</a:t>
            </a:r>
          </a:p>
          <a:p>
            <a:pPr lvl="2"/>
            <a:r>
              <a:rPr lang="en-US" sz="2900" dirty="0"/>
              <a:t>Found to be </a:t>
            </a:r>
            <a:r>
              <a:rPr lang="en-US" sz="2900" dirty="0">
                <a:sym typeface="Symbol" panose="05050102010706020507" pitchFamily="18" charset="2"/>
              </a:rPr>
              <a:t></a:t>
            </a:r>
            <a:r>
              <a:rPr lang="en-US" sz="2900" dirty="0"/>
              <a:t>protective: ↓ VLDL, ↓ platelet aggregation, ↓ CAD</a:t>
            </a:r>
          </a:p>
          <a:p>
            <a:pPr lvl="1"/>
            <a:r>
              <a:rPr lang="en-US" sz="2900" dirty="0"/>
              <a:t>If ↑ TG main concern: consider cutting back on carbs &amp; alcohol</a:t>
            </a:r>
          </a:p>
          <a:p>
            <a:r>
              <a:rPr lang="en-US" sz="2900" dirty="0"/>
              <a:t>Smoking Cessation</a:t>
            </a:r>
          </a:p>
          <a:p>
            <a:r>
              <a:rPr lang="en-US" sz="2900" dirty="0"/>
              <a:t>Manage HTN, DM, CKD, Obesity/Metabolic Syndrome</a:t>
            </a:r>
          </a:p>
          <a:p>
            <a:r>
              <a:rPr lang="en-US" sz="2900" dirty="0"/>
              <a:t>Exercise</a:t>
            </a:r>
          </a:p>
          <a:p>
            <a:r>
              <a:rPr lang="en-US" sz="2900" dirty="0"/>
              <a:t>Increase antioxidants from fruits/veggies, Soluble fiber may reduce LDL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060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Fish Facts: The Scoop on Salmon and Cholesterol - Meditnor">
            <a:extLst>
              <a:ext uri="{FF2B5EF4-FFF2-40B4-BE49-F238E27FC236}">
                <a16:creationId xmlns:a16="http://schemas.microsoft.com/office/drawing/2014/main" id="{D8DB11C5-D7A0-4ED2-8831-05567F77A6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97848" y="-207024"/>
            <a:ext cx="63941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60EFDF-6588-4FE5-AF98-D935A2C24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998" y="798445"/>
            <a:ext cx="4803636" cy="1311664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000000"/>
                </a:solidFill>
              </a:rPr>
              <a:t>Dyslipidemia Treatment		</a:t>
            </a:r>
            <a:r>
              <a:rPr lang="en-US" sz="3700" b="1" dirty="0">
                <a:solidFill>
                  <a:srgbClr val="00B050"/>
                </a:solidFill>
              </a:rPr>
              <a:t>Dietary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A90B0-8A71-4B65-AC12-2E689BF4C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705" y="2398426"/>
            <a:ext cx="5062095" cy="4459573"/>
          </a:xfrm>
        </p:spPr>
        <p:txBody>
          <a:bodyPr anchor="ctr">
            <a:norm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</a:rPr>
              <a:t>Typically, modest reductions in cholesterol have been reported (5-10% reduction in LDL</a:t>
            </a:r>
            <a:r>
              <a:rPr lang="en-US" dirty="0">
                <a:solidFill>
                  <a:srgbClr val="000000"/>
                </a:solidFill>
              </a:rPr>
              <a:t>​)</a:t>
            </a:r>
          </a:p>
          <a:p>
            <a:pPr fontAlgn="base"/>
            <a:r>
              <a:rPr lang="en-US" dirty="0">
                <a:solidFill>
                  <a:srgbClr val="000000"/>
                </a:solidFill>
              </a:rPr>
              <a:t>Bigger impact of dietary changes </a:t>
            </a:r>
            <a:r>
              <a:rPr lang="en-US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</a:rPr>
              <a:t> improving comorbidities (weight, BP, Blood Glucose, inflammation)</a:t>
            </a:r>
          </a:p>
          <a:p>
            <a:endParaRPr lang="en-US" sz="2000" dirty="0">
              <a:solidFill>
                <a:srgbClr val="000000"/>
              </a:solidFill>
            </a:endParaRPr>
          </a:p>
          <a:p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6353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09A0-C315-42D4-99AF-F4B71684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4AB8-9DC2-4707-8001-07D204B6D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2418734"/>
            <a:ext cx="11715750" cy="425638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200" b="1" dirty="0"/>
              <a:t>IF Medication treatment is necessary: </a:t>
            </a:r>
            <a:r>
              <a:rPr lang="en-US" sz="3200" dirty="0"/>
              <a:t>Discuss ALL risk &amp; benefits</a:t>
            </a:r>
          </a:p>
          <a:p>
            <a:pPr marL="0" indent="0" fontAlgn="base">
              <a:buNone/>
            </a:pPr>
            <a:r>
              <a:rPr lang="en-US" sz="3200" dirty="0"/>
              <a:t> (Mortality↓, SE, and Cost)​</a:t>
            </a:r>
          </a:p>
          <a:p>
            <a:pPr fontAlgn="base"/>
            <a:r>
              <a:rPr lang="en-US" sz="3200" dirty="0"/>
              <a:t>Continue to </a:t>
            </a:r>
            <a:r>
              <a:rPr lang="en-US" sz="3200" i="1" dirty="0"/>
              <a:t>assess patient preferences</a:t>
            </a:r>
            <a:r>
              <a:rPr lang="en-US" sz="3200" dirty="0"/>
              <a:t>, medication management and </a:t>
            </a:r>
            <a:r>
              <a:rPr lang="en-US" sz="3200" i="1" dirty="0"/>
              <a:t>tolerance</a:t>
            </a:r>
            <a:r>
              <a:rPr lang="en-US" sz="3200" dirty="0"/>
              <a:t>​</a:t>
            </a:r>
          </a:p>
          <a:p>
            <a:pPr fontAlgn="base"/>
            <a:r>
              <a:rPr lang="en-US" sz="3200" dirty="0"/>
              <a:t>GOAL: “Maintain maximum benefit from clinical care while aligning with patient preferences and goals”​</a:t>
            </a:r>
          </a:p>
          <a:p>
            <a:pPr fontAlgn="base"/>
            <a:endParaRPr lang="en-US" sz="3200" dirty="0"/>
          </a:p>
          <a:p>
            <a:pPr marL="0" indent="0" fontAlgn="base">
              <a:buNone/>
            </a:pPr>
            <a:endParaRPr lang="en-US" sz="3200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6343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 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HMG CoA Inhibitors</a:t>
            </a:r>
            <a:r>
              <a:rPr lang="en-US" sz="3200" dirty="0"/>
              <a:t>:</a:t>
            </a:r>
          </a:p>
          <a:p>
            <a:pPr lvl="1"/>
            <a:r>
              <a:rPr lang="en-US" sz="3200" dirty="0"/>
              <a:t>MOA: inhibits HMG CoA reductase enzyme involved in the cholesterol synthesis pathway</a:t>
            </a:r>
          </a:p>
          <a:p>
            <a:pPr lvl="1"/>
            <a:r>
              <a:rPr lang="en-US" sz="3200" dirty="0"/>
              <a:t>↓ liver cholesterol production</a:t>
            </a:r>
          </a:p>
          <a:p>
            <a:pPr lvl="1"/>
            <a:r>
              <a:rPr lang="en-US" sz="3200" b="1" dirty="0"/>
              <a:t>Statins ↓ </a:t>
            </a:r>
            <a:r>
              <a:rPr lang="en-US" sz="3200" b="1" dirty="0" err="1"/>
              <a:t>LDLc</a:t>
            </a:r>
            <a:r>
              <a:rPr lang="en-US" sz="3200" b="1" dirty="0"/>
              <a:t>  35% on average</a:t>
            </a:r>
          </a:p>
          <a:p>
            <a:pPr lvl="1"/>
            <a:r>
              <a:rPr lang="en-US" sz="3200" b="1" dirty="0"/>
              <a:t>Decrease in All Cause Mortality </a:t>
            </a:r>
            <a:r>
              <a:rPr lang="en-US" sz="3200" dirty="0"/>
              <a:t>with statin use</a:t>
            </a:r>
          </a:p>
          <a:p>
            <a:pPr lvl="1"/>
            <a:r>
              <a:rPr lang="en-US" sz="3200" dirty="0"/>
              <a:t>Limits progression and may even cause regression of atherosclerosis</a:t>
            </a:r>
          </a:p>
        </p:txBody>
      </p:sp>
    </p:spTree>
    <p:extLst>
      <p:ext uri="{BB962C8B-B14F-4D97-AF65-F5344CB8AC3E}">
        <p14:creationId xmlns:p14="http://schemas.microsoft.com/office/powerpoint/2010/main" val="12155671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	</a:t>
            </a:r>
            <a:r>
              <a:rPr lang="en-US" b="1" dirty="0">
                <a:solidFill>
                  <a:srgbClr val="00B050"/>
                </a:solidFill>
              </a:rPr>
              <a:t>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HMG CoA Inhibitors:</a:t>
            </a:r>
          </a:p>
          <a:p>
            <a:pPr lvl="1"/>
            <a:r>
              <a:rPr lang="en-US" sz="2800" dirty="0"/>
              <a:t>Dosing: PO, recommend to take 1x per day</a:t>
            </a:r>
          </a:p>
          <a:p>
            <a:pPr lvl="1"/>
            <a:r>
              <a:rPr lang="en-US" sz="2800" dirty="0"/>
              <a:t>SE: </a:t>
            </a:r>
          </a:p>
          <a:p>
            <a:pPr lvl="2"/>
            <a:r>
              <a:rPr lang="en-US" sz="2800" b="1" dirty="0"/>
              <a:t>MC myalgias </a:t>
            </a:r>
            <a:r>
              <a:rPr lang="en-US" sz="2800" dirty="0"/>
              <a:t>(approx. 10%)</a:t>
            </a:r>
          </a:p>
          <a:p>
            <a:pPr lvl="2"/>
            <a:r>
              <a:rPr lang="en-US" sz="2800" dirty="0"/>
              <a:t>Myositis (a bit more common) and Rhabdomyolysis (rare)</a:t>
            </a:r>
          </a:p>
          <a:p>
            <a:pPr lvl="2"/>
            <a:r>
              <a:rPr lang="en-US" sz="2800" dirty="0"/>
              <a:t>GI </a:t>
            </a:r>
            <a:r>
              <a:rPr lang="en-US" sz="2800" dirty="0" err="1"/>
              <a:t>sx</a:t>
            </a:r>
            <a:r>
              <a:rPr lang="en-US" sz="2800" dirty="0"/>
              <a:t> (upset stomach, flatus, dyspepsia)</a:t>
            </a:r>
          </a:p>
          <a:p>
            <a:pPr lvl="2"/>
            <a:r>
              <a:rPr lang="en-US" sz="2800" b="1" dirty="0"/>
              <a:t>↑Liver enzymes</a:t>
            </a:r>
            <a:r>
              <a:rPr lang="en-US" sz="2800" dirty="0"/>
              <a:t>, liver failure</a:t>
            </a:r>
          </a:p>
          <a:p>
            <a:pPr lvl="2"/>
            <a:r>
              <a:rPr lang="en-US" sz="2800" dirty="0"/>
              <a:t>Risk of </a:t>
            </a:r>
            <a:r>
              <a:rPr lang="en-US" sz="2800" b="1" dirty="0"/>
              <a:t>hyperglycemia</a:t>
            </a:r>
            <a:r>
              <a:rPr lang="en-US" sz="2800" dirty="0"/>
              <a:t> and possibly new onset DM</a:t>
            </a:r>
          </a:p>
          <a:p>
            <a:pPr lvl="1"/>
            <a:r>
              <a:rPr lang="en-US" sz="2800" dirty="0"/>
              <a:t>Pregnancy: </a:t>
            </a:r>
            <a:r>
              <a:rPr lang="en-US" sz="2800" b="1" dirty="0"/>
              <a:t>Generally discontinue statins during pregnancy; avoid routine use.</a:t>
            </a:r>
          </a:p>
        </p:txBody>
      </p:sp>
    </p:spTree>
    <p:extLst>
      <p:ext uri="{BB962C8B-B14F-4D97-AF65-F5344CB8AC3E}">
        <p14:creationId xmlns:p14="http://schemas.microsoft.com/office/powerpoint/2010/main" val="266620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825625"/>
            <a:ext cx="11635740" cy="488572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/>
              <a:t>HMG CoA Inhibitors: (Monitoring)</a:t>
            </a:r>
          </a:p>
          <a:p>
            <a:pPr marL="0" indent="0" fontAlgn="base">
              <a:buNone/>
            </a:pPr>
            <a:r>
              <a:rPr lang="en-US" sz="3000" b="1" dirty="0"/>
              <a:t>Liver</a:t>
            </a:r>
          </a:p>
          <a:p>
            <a:pPr fontAlgn="base"/>
            <a:r>
              <a:rPr lang="en-US" sz="3000" dirty="0"/>
              <a:t>Because </a:t>
            </a:r>
            <a:r>
              <a:rPr lang="en-US" sz="3000" b="1" dirty="0"/>
              <a:t>Statins work in the liver, Liver Enzymes (ALT/AST/Alk Phos) </a:t>
            </a:r>
            <a:r>
              <a:rPr lang="en-US" sz="3000" dirty="0"/>
              <a:t>must be taken prior to initiating therapy, and monitored if concerns arise.​</a:t>
            </a:r>
          </a:p>
          <a:p>
            <a:pPr fontAlgn="base"/>
            <a:r>
              <a:rPr lang="en-US" sz="3000" dirty="0"/>
              <a:t>Meds known to also alter liver function can complicate this as well: ​</a:t>
            </a:r>
            <a:br>
              <a:rPr lang="en-US" sz="3000" dirty="0"/>
            </a:br>
            <a:r>
              <a:rPr lang="en-US" sz="3000" dirty="0"/>
              <a:t>- </a:t>
            </a:r>
            <a:r>
              <a:rPr lang="en-US" sz="3000" b="1" dirty="0"/>
              <a:t>E-</a:t>
            </a:r>
            <a:r>
              <a:rPr lang="en-US" sz="3000" b="1" dirty="0" err="1"/>
              <a:t>mycin</a:t>
            </a:r>
            <a:r>
              <a:rPr lang="en-US" sz="3000" b="1" dirty="0"/>
              <a:t>, antifungal medications, and immunosuppressive agents</a:t>
            </a:r>
            <a:r>
              <a:rPr lang="en-US" sz="3000" dirty="0"/>
              <a:t>​</a:t>
            </a:r>
          </a:p>
          <a:p>
            <a:pPr fontAlgn="base"/>
            <a:r>
              <a:rPr lang="en-US" sz="3000" dirty="0"/>
              <a:t>Conventional wisdom: ​</a:t>
            </a:r>
            <a:br>
              <a:rPr lang="en-US" sz="3000" dirty="0"/>
            </a:br>
            <a:r>
              <a:rPr lang="en-US" sz="3000" b="1" dirty="0"/>
              <a:t>- Do not need to d/c the use of statin until 3x’s high end NML</a:t>
            </a:r>
            <a:r>
              <a:rPr lang="en-US" sz="3000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72822319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/>
              <a:t>HMG CoA Inhibitors:</a:t>
            </a:r>
          </a:p>
          <a:p>
            <a:pPr lvl="1"/>
            <a:r>
              <a:rPr lang="en-US" sz="3200" dirty="0"/>
              <a:t>Low-intensity statin therapy:</a:t>
            </a:r>
          </a:p>
          <a:p>
            <a:pPr lvl="2"/>
            <a:r>
              <a:rPr lang="en-US" sz="2800" dirty="0"/>
              <a:t>Simvastatin (</a:t>
            </a:r>
            <a:r>
              <a:rPr lang="en-US" sz="2800" b="1" dirty="0"/>
              <a:t>Zocor</a:t>
            </a:r>
            <a:r>
              <a:rPr lang="en-US" sz="2800" dirty="0"/>
              <a:t>) 10 mg​</a:t>
            </a:r>
          </a:p>
          <a:p>
            <a:pPr lvl="2"/>
            <a:r>
              <a:rPr lang="en-US" sz="2800" dirty="0"/>
              <a:t>Pravastatin (</a:t>
            </a:r>
            <a:r>
              <a:rPr lang="en-US" sz="2800" b="1" dirty="0"/>
              <a:t>Pravachol</a:t>
            </a:r>
            <a:r>
              <a:rPr lang="en-US" sz="2800" dirty="0"/>
              <a:t>) 10-20 mg​</a:t>
            </a:r>
          </a:p>
          <a:p>
            <a:pPr lvl="2"/>
            <a:r>
              <a:rPr lang="en-US" sz="2800" dirty="0"/>
              <a:t>Lovastatin (</a:t>
            </a:r>
            <a:r>
              <a:rPr lang="en-US" sz="2800" b="1" dirty="0" err="1"/>
              <a:t>Mevacor</a:t>
            </a:r>
            <a:r>
              <a:rPr lang="en-US" sz="2800" dirty="0"/>
              <a:t>) 20 mg</a:t>
            </a:r>
          </a:p>
          <a:p>
            <a:pPr lvl="1"/>
            <a:endParaRPr lang="en-US" sz="28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3D1B2-BBA3-4290-B77F-245009293309}"/>
              </a:ext>
            </a:extLst>
          </p:cNvPr>
          <p:cNvSpPr txBox="1"/>
          <p:nvPr/>
        </p:nvSpPr>
        <p:spPr>
          <a:xfrm>
            <a:off x="8420819" y="2756299"/>
            <a:ext cx="293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~ &lt; 30% Cholesterol Reduction</a:t>
            </a:r>
          </a:p>
        </p:txBody>
      </p:sp>
    </p:spTree>
    <p:extLst>
      <p:ext uri="{BB962C8B-B14F-4D97-AF65-F5344CB8AC3E}">
        <p14:creationId xmlns:p14="http://schemas.microsoft.com/office/powerpoint/2010/main" val="33800457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/>
              <a:t>HMG CoA Inhibitors:</a:t>
            </a:r>
          </a:p>
          <a:p>
            <a:pPr lvl="1"/>
            <a:r>
              <a:rPr lang="en-US" sz="3200" dirty="0"/>
              <a:t>Moderate-intensity statin therapy:</a:t>
            </a:r>
          </a:p>
          <a:p>
            <a:pPr lvl="2"/>
            <a:r>
              <a:rPr lang="en-US" sz="3200" i="1" dirty="0"/>
              <a:t>Pravastatin (</a:t>
            </a:r>
            <a:r>
              <a:rPr lang="en-US" sz="3200" b="1" i="1" dirty="0"/>
              <a:t>Pravachol</a:t>
            </a:r>
            <a:r>
              <a:rPr lang="en-US" sz="3200" i="1" dirty="0"/>
              <a:t>)</a:t>
            </a:r>
            <a:r>
              <a:rPr lang="en-US" sz="3200" dirty="0"/>
              <a:t> 40 mg daily</a:t>
            </a:r>
          </a:p>
          <a:p>
            <a:pPr lvl="2"/>
            <a:r>
              <a:rPr lang="en-US" sz="3200" i="1" dirty="0"/>
              <a:t>Simvastatin (</a:t>
            </a:r>
            <a:r>
              <a:rPr lang="en-US" sz="3200" b="1" i="1" dirty="0"/>
              <a:t>Zocor</a:t>
            </a:r>
            <a:r>
              <a:rPr lang="en-US" sz="3200" i="1" dirty="0"/>
              <a:t>) </a:t>
            </a:r>
            <a:r>
              <a:rPr lang="en-US" sz="3200" dirty="0"/>
              <a:t>40 mg daily</a:t>
            </a:r>
          </a:p>
          <a:p>
            <a:pPr lvl="2"/>
            <a:r>
              <a:rPr lang="en-US" sz="3200" i="1" dirty="0"/>
              <a:t>Atorvastatin (</a:t>
            </a:r>
            <a:r>
              <a:rPr lang="en-US" sz="3200" b="1" i="1" dirty="0"/>
              <a:t>Lipitor</a:t>
            </a:r>
            <a:r>
              <a:rPr lang="en-US" sz="3200" i="1" dirty="0"/>
              <a:t>) </a:t>
            </a:r>
            <a:r>
              <a:rPr lang="en-US" sz="3200" dirty="0"/>
              <a:t>10 - 20 mg daily</a:t>
            </a:r>
          </a:p>
          <a:p>
            <a:pPr lvl="2"/>
            <a:r>
              <a:rPr lang="en-US" sz="3200" i="1" dirty="0"/>
              <a:t>Rosuvastatin (</a:t>
            </a:r>
            <a:r>
              <a:rPr lang="en-US" sz="3200" b="1" i="1" dirty="0"/>
              <a:t>Crestor</a:t>
            </a:r>
            <a:r>
              <a:rPr lang="en-US" sz="3200" i="1" dirty="0"/>
              <a:t>) </a:t>
            </a:r>
            <a:r>
              <a:rPr lang="en-US" sz="3200" dirty="0"/>
              <a:t>5 - 10 mg daily</a:t>
            </a:r>
          </a:p>
          <a:p>
            <a:pPr lvl="1"/>
            <a:endParaRPr lang="en-US" sz="28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559D7-0DA2-4965-82B5-8F9BB1D1A915}"/>
              </a:ext>
            </a:extLst>
          </p:cNvPr>
          <p:cNvSpPr txBox="1"/>
          <p:nvPr/>
        </p:nvSpPr>
        <p:spPr>
          <a:xfrm>
            <a:off x="8782410" y="2598003"/>
            <a:ext cx="293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~ 30-50% Cholesterol Reduction</a:t>
            </a:r>
          </a:p>
        </p:txBody>
      </p:sp>
    </p:spTree>
    <p:extLst>
      <p:ext uri="{BB962C8B-B14F-4D97-AF65-F5344CB8AC3E}">
        <p14:creationId xmlns:p14="http://schemas.microsoft.com/office/powerpoint/2010/main" val="9739756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000" b="1" dirty="0"/>
              <a:t>HMG CoA Inhibitors:</a:t>
            </a:r>
          </a:p>
          <a:p>
            <a:pPr lvl="1"/>
            <a:r>
              <a:rPr lang="en-US" sz="3200" dirty="0"/>
              <a:t>High-intensity statin therapy:</a:t>
            </a:r>
          </a:p>
          <a:p>
            <a:pPr lvl="2"/>
            <a:r>
              <a:rPr lang="en-US" sz="3200" i="1" dirty="0"/>
              <a:t>Atorvastatin (</a:t>
            </a:r>
            <a:r>
              <a:rPr lang="en-US" sz="3200" b="1" i="1" dirty="0"/>
              <a:t>Lipitor</a:t>
            </a:r>
            <a:r>
              <a:rPr lang="en-US" sz="3200" i="1" dirty="0"/>
              <a:t>) </a:t>
            </a:r>
            <a:r>
              <a:rPr lang="en-US" sz="3200" dirty="0"/>
              <a:t>40 - 80 mg daily</a:t>
            </a:r>
          </a:p>
          <a:p>
            <a:pPr lvl="2"/>
            <a:r>
              <a:rPr lang="en-US" sz="3200" i="1" dirty="0"/>
              <a:t>Rosuvastatin</a:t>
            </a:r>
            <a:r>
              <a:rPr lang="en-US" sz="3200" dirty="0"/>
              <a:t> </a:t>
            </a:r>
            <a:r>
              <a:rPr lang="en-US" sz="3200" i="1" dirty="0"/>
              <a:t>(</a:t>
            </a:r>
            <a:r>
              <a:rPr lang="en-US" sz="3200" b="1" i="1" dirty="0"/>
              <a:t>Crestor</a:t>
            </a:r>
            <a:r>
              <a:rPr lang="en-US" sz="3200" i="1" dirty="0"/>
              <a:t>) </a:t>
            </a:r>
            <a:r>
              <a:rPr lang="en-US" sz="3200" dirty="0"/>
              <a:t>20 - 40 mg daily</a:t>
            </a:r>
            <a:endParaRPr lang="en-US" sz="3200" i="1" dirty="0"/>
          </a:p>
          <a:p>
            <a:pPr lvl="1"/>
            <a:endParaRPr lang="en-US" sz="28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20A4D-D956-4699-A52C-25025ABF7F26}"/>
              </a:ext>
            </a:extLst>
          </p:cNvPr>
          <p:cNvSpPr txBox="1"/>
          <p:nvPr/>
        </p:nvSpPr>
        <p:spPr>
          <a:xfrm>
            <a:off x="9074989" y="2225615"/>
            <a:ext cx="2932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~ 50% Cholesterol Reduction</a:t>
            </a:r>
          </a:p>
        </p:txBody>
      </p:sp>
    </p:spTree>
    <p:extLst>
      <p:ext uri="{BB962C8B-B14F-4D97-AF65-F5344CB8AC3E}">
        <p14:creationId xmlns:p14="http://schemas.microsoft.com/office/powerpoint/2010/main" val="6119334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	Statins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626" y="1825624"/>
            <a:ext cx="1109272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/>
              <a:t>4 Main Groups who benefit from statin use:</a:t>
            </a:r>
          </a:p>
          <a:p>
            <a:pPr fontAlgn="base"/>
            <a:r>
              <a:rPr lang="en-US" dirty="0"/>
              <a:t>Secondary prevention in individuals with clinical ASCVD​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Primary Prevention in individuals with elevations of LDL-C &gt; 190 mg/dL​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Primary Prevention in individuals with diabetes 40-75 y/o who have an LDL-C 70-189 mg/dL​</a:t>
            </a:r>
            <a:br>
              <a:rPr lang="en-US" dirty="0"/>
            </a:br>
            <a:r>
              <a:rPr lang="en-US" dirty="0"/>
              <a:t>​</a:t>
            </a:r>
          </a:p>
          <a:p>
            <a:pPr fontAlgn="base"/>
            <a:r>
              <a:rPr lang="en-US" dirty="0"/>
              <a:t>Primary Prevention in individuals without diabetes and an estimated 10-year ASCVD risk &gt; 7.5%, 40-75 y/o who have an LDL-C 70-189 mg/dL</a:t>
            </a:r>
          </a:p>
          <a:p>
            <a:pPr lvl="1"/>
            <a:endParaRPr lang="en-US" sz="2800" i="1" dirty="0"/>
          </a:p>
        </p:txBody>
      </p:sp>
      <p:pic>
        <p:nvPicPr>
          <p:cNvPr id="5" name="Graphic 4" descr="Star with solid fill">
            <a:extLst>
              <a:ext uri="{FF2B5EF4-FFF2-40B4-BE49-F238E27FC236}">
                <a16:creationId xmlns:a16="http://schemas.microsoft.com/office/drawing/2014/main" id="{C42803A6-3FDA-A39F-351D-210D603E6F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57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 		</a:t>
            </a:r>
            <a:r>
              <a:rPr lang="en-US" b="1" dirty="0">
                <a:solidFill>
                  <a:srgbClr val="00B050"/>
                </a:solidFill>
              </a:rPr>
              <a:t>	Ezetimibe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754" y="1825625"/>
            <a:ext cx="11390526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b="1" dirty="0"/>
              <a:t>Cholesterol Absorption Inhibitors: </a:t>
            </a:r>
          </a:p>
          <a:p>
            <a:pPr lvl="1"/>
            <a:r>
              <a:rPr lang="en-US" sz="3200" dirty="0"/>
              <a:t>MOA: </a:t>
            </a:r>
            <a:r>
              <a:rPr lang="en-US" sz="3200" b="1" dirty="0"/>
              <a:t>Inhibits absorption of cholesterol </a:t>
            </a:r>
            <a:r>
              <a:rPr lang="en-US" sz="3200" dirty="0"/>
              <a:t>at the brush border of the small intestine via the sterol transporter, Niemann-Pick C1-Like1 (NPC1L1)</a:t>
            </a:r>
          </a:p>
          <a:p>
            <a:pPr lvl="1"/>
            <a:r>
              <a:rPr lang="en-US" sz="3200" dirty="0"/>
              <a:t>↓ the amount of cholesterol entering enterocytes, therefore less cholesterol available for chylomicron formation</a:t>
            </a:r>
          </a:p>
          <a:p>
            <a:pPr lvl="1"/>
            <a:r>
              <a:rPr lang="en-US" sz="3200" dirty="0"/>
              <a:t>Dosing: 10 mg PO daily</a:t>
            </a:r>
          </a:p>
          <a:p>
            <a:pPr lvl="1"/>
            <a:r>
              <a:rPr lang="en-US" sz="3200" dirty="0"/>
              <a:t>Cardio vascular benefits</a:t>
            </a:r>
          </a:p>
        </p:txBody>
      </p:sp>
    </p:spTree>
    <p:extLst>
      <p:ext uri="{BB962C8B-B14F-4D97-AF65-F5344CB8AC3E}">
        <p14:creationId xmlns:p14="http://schemas.microsoft.com/office/powerpoint/2010/main" val="26755701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 		</a:t>
            </a:r>
            <a:r>
              <a:rPr lang="en-US" b="1" dirty="0">
                <a:solidFill>
                  <a:srgbClr val="00B050"/>
                </a:solidFill>
              </a:rPr>
              <a:t>	Ezetimibe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1825625"/>
            <a:ext cx="11292840" cy="43513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2600" b="1" dirty="0"/>
              <a:t>Cholesterol Absorption Inhibitors: </a:t>
            </a:r>
          </a:p>
          <a:p>
            <a:pPr marL="0" indent="0" fontAlgn="base">
              <a:buNone/>
            </a:pPr>
            <a:r>
              <a:rPr lang="en-US" sz="2600" b="1" dirty="0"/>
              <a:t>IMPROVE-IT study:</a:t>
            </a:r>
            <a:r>
              <a:rPr lang="en-US" sz="2600" dirty="0"/>
              <a:t>​</a:t>
            </a:r>
            <a:br>
              <a:rPr lang="en-US" sz="2600" dirty="0"/>
            </a:br>
            <a:r>
              <a:rPr lang="en-US" sz="2600" dirty="0"/>
              <a:t>- Published in 2015, NEJM​</a:t>
            </a:r>
            <a:br>
              <a:rPr lang="en-US" sz="2600" dirty="0"/>
            </a:br>
            <a:r>
              <a:rPr lang="en-US" sz="2600" dirty="0"/>
              <a:t>- Multi-center, double blind, randomized controlled trial of 18,144 patients hospitalized for ACS/followed over 6 years​</a:t>
            </a:r>
          </a:p>
          <a:p>
            <a:pPr fontAlgn="base"/>
            <a:r>
              <a:rPr lang="en-US" sz="2600" b="1" dirty="0"/>
              <a:t>    - Statin + </a:t>
            </a:r>
            <a:r>
              <a:rPr lang="en-US" sz="2600" b="1" dirty="0" err="1"/>
              <a:t>Ezetimbe</a:t>
            </a:r>
            <a:r>
              <a:rPr lang="en-US" sz="2600" b="1" dirty="0"/>
              <a:t> (Experiment Group)</a:t>
            </a:r>
            <a:r>
              <a:rPr lang="en-US" sz="2600" dirty="0"/>
              <a:t>​</a:t>
            </a:r>
            <a:br>
              <a:rPr lang="en-US" sz="2600" dirty="0"/>
            </a:br>
            <a:r>
              <a:rPr lang="en-US" sz="2600" b="1" dirty="0"/>
              <a:t>    - Statin alone (Control Group)</a:t>
            </a:r>
            <a:r>
              <a:rPr lang="en-US" sz="2600" dirty="0"/>
              <a:t>​</a:t>
            </a:r>
            <a:br>
              <a:rPr lang="en-US" sz="2600" dirty="0"/>
            </a:br>
            <a:r>
              <a:rPr lang="en-US" sz="2600" dirty="0"/>
              <a:t>​</a:t>
            </a:r>
          </a:p>
          <a:p>
            <a:pPr fontAlgn="base"/>
            <a:r>
              <a:rPr lang="en-US" sz="2600" dirty="0"/>
              <a:t>Among patients with recent ACS, adding ezetimibe to statin therapy provides a modest but statistically significant reduction in major cardiovascular events compared with statin therapy alone, without a demonstrated reduction in cardiovascular or all-cause mortality.</a:t>
            </a:r>
          </a:p>
        </p:txBody>
      </p:sp>
    </p:spTree>
    <p:extLst>
      <p:ext uri="{BB962C8B-B14F-4D97-AF65-F5344CB8AC3E}">
        <p14:creationId xmlns:p14="http://schemas.microsoft.com/office/powerpoint/2010/main" val="3893012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 		</a:t>
            </a:r>
            <a:r>
              <a:rPr lang="en-US" b="1" dirty="0">
                <a:solidFill>
                  <a:srgbClr val="00B050"/>
                </a:solidFill>
              </a:rPr>
              <a:t>	Ezetimibe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825625"/>
            <a:ext cx="11356258" cy="49143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b="1" dirty="0"/>
              <a:t>Cholesterol Absorption Inhibitors: </a:t>
            </a:r>
          </a:p>
          <a:p>
            <a:pPr lvl="1"/>
            <a:r>
              <a:rPr lang="en-US" sz="2800" dirty="0"/>
              <a:t>SE: rare in monotherapy possibly some GI symptoms (diarrhea), ↑liver enzymes when used with statins</a:t>
            </a:r>
          </a:p>
          <a:p>
            <a:pPr lvl="1"/>
            <a:r>
              <a:rPr lang="en-US" sz="2800" dirty="0"/>
              <a:t>Monitoring: Caution Use in significant Hepatic impairment</a:t>
            </a:r>
          </a:p>
          <a:p>
            <a:pPr lvl="1"/>
            <a:r>
              <a:rPr lang="en-US" sz="2800" dirty="0"/>
              <a:t>Pregnancy Category: C</a:t>
            </a:r>
          </a:p>
          <a:p>
            <a:pPr lvl="1"/>
            <a:endParaRPr lang="en-US" sz="2800" dirty="0"/>
          </a:p>
          <a:p>
            <a:pPr marL="457200" lvl="1" indent="0">
              <a:buNone/>
            </a:pPr>
            <a:endParaRPr lang="en-US" sz="2800" dirty="0"/>
          </a:p>
          <a:p>
            <a:pPr lvl="1"/>
            <a:r>
              <a:rPr lang="en-US" sz="2800" i="1" dirty="0"/>
              <a:t>Ezetimibe (</a:t>
            </a:r>
            <a:r>
              <a:rPr lang="en-US" sz="2800" b="1" i="1" dirty="0"/>
              <a:t>Zetia</a:t>
            </a:r>
            <a:r>
              <a:rPr lang="en-US" sz="2800" i="1" dirty="0"/>
              <a:t>) </a:t>
            </a:r>
            <a:r>
              <a:rPr lang="en-US" sz="2800" dirty="0"/>
              <a:t>10 mg daily PO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8565911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PCSK9 Inhibitors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8" y="1690689"/>
            <a:ext cx="8120062" cy="4953952"/>
          </a:xfr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000" b="1" dirty="0"/>
              <a:t>PCSK9 Inhibitors</a:t>
            </a:r>
          </a:p>
          <a:p>
            <a:r>
              <a:rPr lang="en-US" sz="3000" dirty="0"/>
              <a:t>MOA: PCSK9 inhibition </a:t>
            </a:r>
            <a:r>
              <a:rPr lang="en-US" sz="3000" b="1" dirty="0"/>
              <a:t>leads to better clearance/recycling of LDL particles in hepatocytes</a:t>
            </a:r>
          </a:p>
          <a:p>
            <a:r>
              <a:rPr lang="en-US" sz="3000" dirty="0"/>
              <a:t>↓ LDL-C, TG</a:t>
            </a:r>
          </a:p>
          <a:p>
            <a:r>
              <a:rPr lang="en-US" sz="3000" dirty="0"/>
              <a:t>↑ HDL</a:t>
            </a:r>
          </a:p>
          <a:p>
            <a:r>
              <a:rPr lang="en-US" sz="3000" dirty="0"/>
              <a:t>Injection, Cost</a:t>
            </a:r>
          </a:p>
          <a:p>
            <a:r>
              <a:rPr lang="en-US" sz="3000" dirty="0"/>
              <a:t>SE: some mild injection site reactions</a:t>
            </a:r>
          </a:p>
          <a:p>
            <a:r>
              <a:rPr lang="en-US" sz="3000" dirty="0"/>
              <a:t>Research: PCSK9i decrease CV Events and Mortality</a:t>
            </a:r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AD98FF0B-C402-45CF-8C59-C63A0B66F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131" y="1420804"/>
            <a:ext cx="5167131" cy="331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8538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PCSK9 Inhibitors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8" y="1825625"/>
            <a:ext cx="11472862" cy="48323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3200" b="1" dirty="0"/>
              <a:t>PCSK9 Inhibitors</a:t>
            </a:r>
          </a:p>
          <a:p>
            <a:pPr lvl="1"/>
            <a:r>
              <a:rPr lang="en-US" sz="3200" i="1" dirty="0" err="1"/>
              <a:t>Evolocumab</a:t>
            </a:r>
            <a:r>
              <a:rPr lang="en-US" sz="3200" i="1" dirty="0"/>
              <a:t> (</a:t>
            </a:r>
            <a:r>
              <a:rPr lang="en-US" sz="3200" b="1" i="1" dirty="0"/>
              <a:t>Repatha</a:t>
            </a:r>
            <a:r>
              <a:rPr lang="en-US" sz="3200" i="1" dirty="0"/>
              <a:t>) </a:t>
            </a:r>
          </a:p>
          <a:p>
            <a:pPr lvl="2"/>
            <a:r>
              <a:rPr lang="en-US" sz="2800" dirty="0" err="1"/>
              <a:t>SubQ</a:t>
            </a:r>
            <a:r>
              <a:rPr lang="en-US" sz="2800" dirty="0"/>
              <a:t>: 140 mg every 2 </a:t>
            </a:r>
            <a:r>
              <a:rPr lang="en-US" sz="2800" dirty="0" err="1"/>
              <a:t>wks</a:t>
            </a:r>
            <a:r>
              <a:rPr lang="en-US" sz="2800" dirty="0"/>
              <a:t> or 420 mg once monthly</a:t>
            </a:r>
            <a:endParaRPr lang="en-US" sz="2800" i="1" dirty="0"/>
          </a:p>
          <a:p>
            <a:pPr lvl="1"/>
            <a:r>
              <a:rPr lang="en-US" sz="3200" i="1" dirty="0"/>
              <a:t>Alirocumab (</a:t>
            </a:r>
            <a:r>
              <a:rPr lang="en-US" sz="3200" b="1" i="1" dirty="0" err="1"/>
              <a:t>Praluent</a:t>
            </a:r>
            <a:r>
              <a:rPr lang="en-US" sz="3200" i="1" dirty="0"/>
              <a:t>) </a:t>
            </a:r>
          </a:p>
          <a:p>
            <a:pPr lvl="2"/>
            <a:r>
              <a:rPr lang="en-US" sz="2800" dirty="0" err="1"/>
              <a:t>SubQ</a:t>
            </a:r>
            <a:r>
              <a:rPr lang="en-US" sz="2800" dirty="0"/>
              <a:t>: 75 mg once every 2 </a:t>
            </a:r>
            <a:r>
              <a:rPr lang="en-US" sz="2800" dirty="0" err="1"/>
              <a:t>wks</a:t>
            </a:r>
            <a:r>
              <a:rPr lang="en-US" sz="2800" b="1" dirty="0"/>
              <a:t> </a:t>
            </a:r>
            <a:r>
              <a:rPr lang="en-US" sz="2800" dirty="0"/>
              <a:t>or</a:t>
            </a:r>
            <a:r>
              <a:rPr lang="en-US" sz="2800" b="1" dirty="0"/>
              <a:t> </a:t>
            </a:r>
            <a:r>
              <a:rPr lang="en-US" sz="2800" dirty="0"/>
              <a:t>300 mg once monthly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27157215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1747" cy="1325563"/>
          </a:xfrm>
        </p:spPr>
        <p:txBody>
          <a:bodyPr/>
          <a:lstStyle/>
          <a:p>
            <a:r>
              <a:rPr lang="en-US" dirty="0"/>
              <a:t>Dyslipidemia Treatment	</a:t>
            </a:r>
            <a:r>
              <a:rPr lang="en-US" b="1" dirty="0">
                <a:solidFill>
                  <a:srgbClr val="00B050"/>
                </a:solidFill>
              </a:rPr>
              <a:t>Bile Acid Sequestrants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690688"/>
            <a:ext cx="11574978" cy="5034577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3200" b="1" dirty="0"/>
              <a:t>Bile Acid Sequestrants: </a:t>
            </a:r>
          </a:p>
          <a:p>
            <a:pPr lvl="1"/>
            <a:r>
              <a:rPr lang="en-US" sz="2800" dirty="0"/>
              <a:t>MOA: Binds to bile acids which leads to increased fecal excretion of fats &amp; cholesterol</a:t>
            </a:r>
          </a:p>
          <a:p>
            <a:pPr lvl="1"/>
            <a:r>
              <a:rPr lang="en-US" sz="2800" dirty="0"/>
              <a:t>↓ LDL, ↑ HDL</a:t>
            </a:r>
          </a:p>
          <a:p>
            <a:pPr lvl="1"/>
            <a:r>
              <a:rPr lang="en-US" sz="2800" dirty="0"/>
              <a:t>SE: nausea, bloating, cramping, diarrhea or constipation, complications with absorption of other medications, inhibition of absorption of fat soluble vitamins, ↑ TGs</a:t>
            </a:r>
          </a:p>
          <a:p>
            <a:pPr lvl="1"/>
            <a:r>
              <a:rPr lang="en-US" sz="2800" b="1" u="sng" dirty="0"/>
              <a:t>↓ incidence of coronary events, BUT NO evidence of mortality benefit</a:t>
            </a:r>
          </a:p>
          <a:p>
            <a:pPr lvl="1"/>
            <a:r>
              <a:rPr lang="en-US" sz="2800" i="1" dirty="0"/>
              <a:t>Cholestyramine (</a:t>
            </a:r>
            <a:r>
              <a:rPr lang="en-US" sz="2800" b="1" i="1" dirty="0"/>
              <a:t>Questran</a:t>
            </a:r>
            <a:r>
              <a:rPr lang="en-US" sz="2800" i="1" dirty="0"/>
              <a:t>) </a:t>
            </a:r>
            <a:r>
              <a:rPr lang="en-US" sz="2800" dirty="0"/>
              <a:t>Oral: Initial: 4 g 1 to 2 times/day; increase gradually over ≥1-month intervals; maintenance: 8 to 16 g/day divided in 2 doses; maximum: 24 g/day</a:t>
            </a:r>
          </a:p>
          <a:p>
            <a:pPr lvl="1"/>
            <a:r>
              <a:rPr lang="en-US" sz="2800" b="1" dirty="0"/>
              <a:t>Medication of choice for dyslipidemia in pregnancy</a:t>
            </a:r>
          </a:p>
        </p:txBody>
      </p:sp>
    </p:spTree>
    <p:extLst>
      <p:ext uri="{BB962C8B-B14F-4D97-AF65-F5344CB8AC3E}">
        <p14:creationId xmlns:p14="http://schemas.microsoft.com/office/powerpoint/2010/main" val="34837485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5CDC-EC87-4CD5-8C44-69270BFE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43" y="365125"/>
            <a:ext cx="10784457" cy="1325563"/>
          </a:xfrm>
        </p:spPr>
        <p:txBody>
          <a:bodyPr/>
          <a:lstStyle/>
          <a:p>
            <a:r>
              <a:rPr lang="en-US" dirty="0"/>
              <a:t>Dyslipidemia Treatment	</a:t>
            </a:r>
            <a:r>
              <a:rPr lang="en-US" b="1" dirty="0">
                <a:solidFill>
                  <a:srgbClr val="00B050"/>
                </a:solidFill>
              </a:rPr>
              <a:t>Fibric Acid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4B28-0BF6-4118-A34B-AD104677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43" y="1825624"/>
            <a:ext cx="11059065" cy="486847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b="1" dirty="0"/>
              <a:t>Fibric Acid Derivatives</a:t>
            </a:r>
          </a:p>
          <a:p>
            <a:r>
              <a:rPr lang="en-US" dirty="0"/>
              <a:t>MOA not well understood</a:t>
            </a:r>
          </a:p>
          <a:p>
            <a:r>
              <a:rPr lang="en-US" dirty="0"/>
              <a:t>NOT indicated unless a hypertriglyceridemia component</a:t>
            </a:r>
          </a:p>
          <a:p>
            <a:r>
              <a:rPr lang="en-US" b="1" dirty="0"/>
              <a:t>↓ TG</a:t>
            </a:r>
            <a:r>
              <a:rPr lang="en-US" dirty="0"/>
              <a:t>, ↑ HDL</a:t>
            </a:r>
          </a:p>
          <a:p>
            <a:r>
              <a:rPr lang="en-US" b="1" u="sng" dirty="0"/>
              <a:t>No significant evidence of improved cardiovascular event or mortality outcomes</a:t>
            </a:r>
            <a:r>
              <a:rPr lang="en-US" b="1" dirty="0"/>
              <a:t> in general populations</a:t>
            </a:r>
          </a:p>
          <a:p>
            <a:r>
              <a:rPr lang="en-US" dirty="0"/>
              <a:t>Monitoring: </a:t>
            </a:r>
            <a:r>
              <a:rPr lang="en-US" b="1" dirty="0"/>
              <a:t>ALTs, Contraindicated in hepatic impairment</a:t>
            </a:r>
          </a:p>
          <a:p>
            <a:r>
              <a:rPr lang="en-US" i="1" dirty="0"/>
              <a:t>Fenofibrate (</a:t>
            </a:r>
            <a:r>
              <a:rPr lang="en-US" i="1" dirty="0" err="1"/>
              <a:t>Fibricor</a:t>
            </a:r>
            <a:r>
              <a:rPr lang="en-US" i="1" dirty="0"/>
              <a:t>) </a:t>
            </a:r>
            <a:r>
              <a:rPr lang="en-US" dirty="0"/>
              <a:t>can interact with </a:t>
            </a:r>
            <a:r>
              <a:rPr lang="en-US" i="1" dirty="0"/>
              <a:t>coumadin</a:t>
            </a:r>
          </a:p>
          <a:p>
            <a:r>
              <a:rPr lang="en-US" i="1" dirty="0"/>
              <a:t>Gemfibrozil (</a:t>
            </a:r>
            <a:r>
              <a:rPr lang="en-US" i="1" dirty="0" err="1"/>
              <a:t>Lopid</a:t>
            </a:r>
            <a:r>
              <a:rPr lang="en-US" i="1" dirty="0"/>
              <a:t>) </a:t>
            </a:r>
            <a:r>
              <a:rPr lang="en-US" dirty="0"/>
              <a:t>shown to increase muscle toxicity caused by statins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010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127B-250D-47E5-8E95-72DC25CA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</a:t>
            </a:r>
            <a:r>
              <a:rPr lang="en-US" b="1" dirty="0">
                <a:solidFill>
                  <a:srgbClr val="00B050"/>
                </a:solidFill>
              </a:rPr>
              <a:t>		Niacin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2D4B-2BD4-46DA-99B3-818B73E84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3500" b="1" dirty="0"/>
              <a:t>Niacin </a:t>
            </a:r>
            <a:r>
              <a:rPr lang="en-US" sz="3500" dirty="0"/>
              <a:t>(AKA Vitamin B3)</a:t>
            </a:r>
          </a:p>
          <a:p>
            <a:pPr lvl="1"/>
            <a:r>
              <a:rPr lang="en-US" sz="3500" dirty="0"/>
              <a:t>MOA not well understood, Goal: ↑ HDL</a:t>
            </a:r>
          </a:p>
          <a:p>
            <a:pPr lvl="1"/>
            <a:r>
              <a:rPr lang="en-US" sz="3500" dirty="0"/>
              <a:t>SE: </a:t>
            </a:r>
          </a:p>
          <a:p>
            <a:pPr lvl="2"/>
            <a:r>
              <a:rPr lang="en-US" sz="3500" dirty="0"/>
              <a:t>flushing, tachycardia, pruritis (especially in the immediate release form)</a:t>
            </a:r>
          </a:p>
          <a:p>
            <a:pPr lvl="3"/>
            <a:r>
              <a:rPr lang="en-US" sz="3500" dirty="0"/>
              <a:t>May be reduced with ASA 81 co-administration</a:t>
            </a:r>
          </a:p>
          <a:p>
            <a:pPr lvl="2"/>
            <a:r>
              <a:rPr lang="en-US" sz="3500" dirty="0"/>
              <a:t>NVD</a:t>
            </a:r>
          </a:p>
          <a:p>
            <a:pPr lvl="2"/>
            <a:r>
              <a:rPr lang="en-US" sz="3500" dirty="0"/>
              <a:t>Hepatotoxicity</a:t>
            </a:r>
          </a:p>
          <a:p>
            <a:pPr lvl="2"/>
            <a:r>
              <a:rPr lang="en-US" sz="3500" dirty="0"/>
              <a:t>Worsened insulin resistance</a:t>
            </a:r>
          </a:p>
          <a:p>
            <a:pPr lvl="1"/>
            <a:r>
              <a:rPr lang="en-US" sz="3500" b="1" dirty="0"/>
              <a:t>No evidence of improved event or mortality outcomes</a:t>
            </a:r>
            <a:endParaRPr lang="en-US" sz="3500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362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212C4-78FB-43C1-9900-D2933626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	</a:t>
            </a:r>
            <a:r>
              <a:rPr lang="en-US" b="1" dirty="0">
                <a:solidFill>
                  <a:srgbClr val="00B050"/>
                </a:solidFill>
              </a:rPr>
              <a:t>		Fish Oil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CBFF-F6E1-41CE-924E-66DA37D3E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fontAlgn="base">
              <a:buFont typeface="+mj-lt"/>
              <a:buAutoNum type="arabicPeriod" startAt="7"/>
            </a:pPr>
            <a:r>
              <a:rPr lang="en-US" b="1" dirty="0"/>
              <a:t>Omega-3 Fatty Acids: </a:t>
            </a:r>
            <a:r>
              <a:rPr lang="en-US" dirty="0"/>
              <a:t>(Fish Oil, O3-FA, EPA, DHA)​</a:t>
            </a:r>
          </a:p>
          <a:p>
            <a:pPr lvl="0"/>
            <a:r>
              <a:rPr lang="en-US" dirty="0"/>
              <a:t>MOA: Decrease hepatic VLDL production, lowering triglycerides.</a:t>
            </a:r>
          </a:p>
          <a:p>
            <a:pPr lvl="0"/>
            <a:r>
              <a:rPr lang="en-US" dirty="0"/>
              <a:t>Lipid effects: Prescription omega-3 fatty acids (4 g/day) can reduce TG by approximately 20–45%.</a:t>
            </a:r>
          </a:p>
          <a:p>
            <a:pPr marL="0" lvl="0" indent="0">
              <a:buNone/>
            </a:pPr>
            <a:r>
              <a:rPr lang="en-US" dirty="0"/>
              <a:t>Medications:</a:t>
            </a:r>
          </a:p>
          <a:p>
            <a:pPr lvl="0"/>
            <a:r>
              <a:rPr lang="en-US" b="1" dirty="0" err="1"/>
              <a:t>Icosapent</a:t>
            </a:r>
            <a:r>
              <a:rPr lang="en-US" b="1" dirty="0"/>
              <a:t> ethyl (</a:t>
            </a:r>
            <a:r>
              <a:rPr lang="en-US" b="1" dirty="0" err="1"/>
              <a:t>Vascepa</a:t>
            </a:r>
            <a:r>
              <a:rPr lang="en-US" b="1" dirty="0"/>
              <a:t>): </a:t>
            </a:r>
            <a:r>
              <a:rPr lang="en-US" dirty="0"/>
              <a:t>EPA-only, 2 g PO BID.</a:t>
            </a:r>
          </a:p>
          <a:p>
            <a:pPr lvl="0"/>
            <a:r>
              <a:rPr lang="en-US" b="1" dirty="0"/>
              <a:t>Omega-3-acid ethyl esters (</a:t>
            </a:r>
            <a:r>
              <a:rPr lang="en-US" b="1" dirty="0" err="1"/>
              <a:t>Lovaza</a:t>
            </a:r>
            <a:r>
              <a:rPr lang="en-US" b="1" dirty="0"/>
              <a:t>): </a:t>
            </a:r>
            <a:r>
              <a:rPr lang="en-US" dirty="0"/>
              <a:t>EPA + DHA, 2 g PO BID.</a:t>
            </a:r>
          </a:p>
          <a:p>
            <a:pPr lvl="0"/>
            <a:r>
              <a:rPr lang="en-US" dirty="0"/>
              <a:t>SE: GI upset, increased risk of atrial fibrillation; possible increased bleeding risk.</a:t>
            </a:r>
          </a:p>
          <a:p>
            <a:pPr lvl="0"/>
            <a:r>
              <a:rPr lang="en-US" dirty="0"/>
              <a:t>CV outcomes: </a:t>
            </a:r>
            <a:r>
              <a:rPr lang="en-US" b="1" dirty="0" err="1"/>
              <a:t>Vascepa</a:t>
            </a:r>
            <a:r>
              <a:rPr lang="en-US" b="1" dirty="0"/>
              <a:t> has demonstrated reduced major cardiovascular events in selected high-risk patients receiving statin therapy. </a:t>
            </a:r>
            <a:r>
              <a:rPr lang="en-US" dirty="0"/>
              <a:t>This benefit has not been established for </a:t>
            </a:r>
            <a:r>
              <a:rPr lang="en-US" dirty="0" err="1"/>
              <a:t>Lovaza</a:t>
            </a:r>
            <a:r>
              <a:rPr lang="en-US" dirty="0"/>
              <a:t> or OTC fish oil supplements.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133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9127B-250D-47E5-8E95-72DC25CA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Dyslipidemia Treatment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9D4D437-464E-4C12-B346-5522B89871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428130"/>
              </p:ext>
            </p:extLst>
          </p:nvPr>
        </p:nvGraphicFramePr>
        <p:xfrm>
          <a:off x="838200" y="1825625"/>
          <a:ext cx="10377488" cy="454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4372">
                  <a:extLst>
                    <a:ext uri="{9D8B030D-6E8A-4147-A177-3AD203B41FA5}">
                      <a16:colId xmlns:a16="http://schemas.microsoft.com/office/drawing/2014/main" val="2106309887"/>
                    </a:ext>
                  </a:extLst>
                </a:gridCol>
                <a:gridCol w="2594372">
                  <a:extLst>
                    <a:ext uri="{9D8B030D-6E8A-4147-A177-3AD203B41FA5}">
                      <a16:colId xmlns:a16="http://schemas.microsoft.com/office/drawing/2014/main" val="3344548153"/>
                    </a:ext>
                  </a:extLst>
                </a:gridCol>
                <a:gridCol w="2594372">
                  <a:extLst>
                    <a:ext uri="{9D8B030D-6E8A-4147-A177-3AD203B41FA5}">
                      <a16:colId xmlns:a16="http://schemas.microsoft.com/office/drawing/2014/main" val="3030829622"/>
                    </a:ext>
                  </a:extLst>
                </a:gridCol>
                <a:gridCol w="2594372">
                  <a:extLst>
                    <a:ext uri="{9D8B030D-6E8A-4147-A177-3AD203B41FA5}">
                      <a16:colId xmlns:a16="http://schemas.microsoft.com/office/drawing/2014/main" val="3243029966"/>
                    </a:ext>
                  </a:extLst>
                </a:gridCol>
              </a:tblGrid>
              <a:tr h="719688">
                <a:tc>
                  <a:txBody>
                    <a:bodyPr/>
                    <a:lstStyle/>
                    <a:p>
                      <a:r>
                        <a:rPr lang="en-US" sz="2000" dirty="0"/>
                        <a:t>Lipid Lowering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% LDL-C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% HDL-C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% TG drop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919130"/>
                  </a:ext>
                </a:extLst>
              </a:tr>
              <a:tr h="416962">
                <a:tc>
                  <a:txBody>
                    <a:bodyPr/>
                    <a:lstStyle/>
                    <a:p>
                      <a:r>
                        <a:rPr lang="en-US" sz="2000" b="1" dirty="0"/>
                        <a:t>Statins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20-60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10-33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811096"/>
                  </a:ext>
                </a:extLst>
              </a:tr>
              <a:tr h="416962">
                <a:tc>
                  <a:txBody>
                    <a:bodyPr/>
                    <a:lstStyle/>
                    <a:p>
                      <a:r>
                        <a:rPr lang="en-US" sz="2000" b="1" dirty="0"/>
                        <a:t>PCSK9 Inhibitors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38-72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20429"/>
                  </a:ext>
                </a:extLst>
              </a:tr>
              <a:tr h="719688">
                <a:tc>
                  <a:txBody>
                    <a:bodyPr/>
                    <a:lstStyle/>
                    <a:p>
                      <a:r>
                        <a:rPr lang="en-US" sz="2000" b="1" dirty="0"/>
                        <a:t>Cholesterol Absorption Inhibitor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7-8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892482"/>
                  </a:ext>
                </a:extLst>
              </a:tr>
              <a:tr h="719688">
                <a:tc>
                  <a:txBody>
                    <a:bodyPr/>
                    <a:lstStyle/>
                    <a:p>
                      <a:r>
                        <a:rPr lang="en-US" sz="2000" u="sng" dirty="0"/>
                        <a:t>Bile Acid Sequestrants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15-30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~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22086"/>
                  </a:ext>
                </a:extLst>
              </a:tr>
              <a:tr h="719688">
                <a:tc>
                  <a:txBody>
                    <a:bodyPr/>
                    <a:lstStyle/>
                    <a:p>
                      <a:r>
                        <a:rPr lang="en-US" sz="2000" dirty="0"/>
                        <a:t>Fibric Acid Derivatives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35-53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00794"/>
                  </a:ext>
                </a:extLst>
              </a:tr>
              <a:tr h="416962">
                <a:tc>
                  <a:txBody>
                    <a:bodyPr/>
                    <a:lstStyle/>
                    <a:p>
                      <a:r>
                        <a:rPr lang="en-US" sz="2000" dirty="0"/>
                        <a:t>Niacin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15-35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25-30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54031"/>
                  </a:ext>
                </a:extLst>
              </a:tr>
              <a:tr h="416962">
                <a:tc>
                  <a:txBody>
                    <a:bodyPr/>
                    <a:lstStyle/>
                    <a:p>
                      <a:r>
                        <a:rPr lang="en-US" sz="2000" b="1" dirty="0"/>
                        <a:t>Omega 3 Fatty Acids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23-45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41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81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79DD97-9134-4F8F-8632-F56F8417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365125"/>
            <a:ext cx="3324509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Dyslipidemia Treatment</a:t>
            </a:r>
            <a:br>
              <a:rPr lang="en-US" dirty="0"/>
            </a:br>
            <a:r>
              <a:rPr lang="en-US" dirty="0"/>
              <a:t>Algorithm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156184-E0F6-4F00-AACC-500E204BFC8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3"/>
          <a:srcRect l="24865" t="16704" r="26518" b="5617"/>
          <a:stretch/>
        </p:blipFill>
        <p:spPr>
          <a:xfrm>
            <a:off x="4591050" y="44450"/>
            <a:ext cx="7600950" cy="682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4379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Suggests Statin Therapy in four populations: ​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b="1" dirty="0"/>
              <a:t>1. Clinical Atherosclerotic Disease</a:t>
            </a:r>
            <a:r>
              <a:rPr lang="en-US" sz="3200" dirty="0"/>
              <a:t>​, high intensity</a:t>
            </a:r>
            <a:br>
              <a:rPr lang="en-US" sz="3200" dirty="0"/>
            </a:br>
            <a:r>
              <a:rPr lang="en-US" sz="3200" b="1" dirty="0"/>
              <a:t>2. LDL cholesterol ≥190 mg/dL, </a:t>
            </a:r>
            <a:r>
              <a:rPr lang="en-US" sz="3200" dirty="0"/>
              <a:t>high intensity</a:t>
            </a:r>
            <a:br>
              <a:rPr lang="en-US" sz="3200" dirty="0"/>
            </a:br>
            <a:r>
              <a:rPr lang="en-US" sz="3200" b="1" dirty="0"/>
              <a:t>3. Diabetics who are aged 40-75 y/o</a:t>
            </a:r>
            <a:r>
              <a:rPr lang="en-US" sz="3200" dirty="0"/>
              <a:t>​, moderate intensity</a:t>
            </a:r>
            <a:br>
              <a:rPr lang="en-US" sz="3200" dirty="0"/>
            </a:br>
            <a:r>
              <a:rPr lang="en-US" sz="3200" b="1" dirty="0"/>
              <a:t>4. Estimated 10-year atherosclerotic risk of 7.5% or more when aged 40-75 y/o  </a:t>
            </a:r>
            <a:r>
              <a:rPr lang="en-US" sz="3200" dirty="0"/>
              <a:t>​(no DM, LDL 70-190), Moderate-High intensity</a:t>
            </a:r>
            <a:br>
              <a:rPr lang="en-US" sz="3200" dirty="0"/>
            </a:b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b="1" dirty="0"/>
              <a:t>- Of note, there is no target LDL</a:t>
            </a:r>
            <a:r>
              <a:rPr lang="en-US" sz="3200" dirty="0"/>
              <a:t>​</a:t>
            </a:r>
            <a:endParaRPr lang="en-US" sz="36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75D508-4483-4F57-9EAA-51709571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4" y="5253037"/>
            <a:ext cx="1609726" cy="160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 descr="Broken Heart with solid fill">
            <a:extLst>
              <a:ext uri="{FF2B5EF4-FFF2-40B4-BE49-F238E27FC236}">
                <a16:creationId xmlns:a16="http://schemas.microsoft.com/office/drawing/2014/main" id="{697028D6-D2A2-03C3-6CE4-D8267C5AC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656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7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331"/>
            <a:ext cx="10515600" cy="1325563"/>
          </a:xfrm>
        </p:spPr>
        <p:txBody>
          <a:bodyPr/>
          <a:lstStyle/>
          <a:p>
            <a:r>
              <a:rPr lang="en-US" sz="4000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792" y="1825625"/>
            <a:ext cx="5181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5800" dirty="0"/>
              <a:t>Special Cases</a:t>
            </a:r>
          </a:p>
          <a:p>
            <a:r>
              <a:rPr lang="en-US" sz="5800" b="1" dirty="0"/>
              <a:t>75 +: </a:t>
            </a:r>
            <a:r>
              <a:rPr lang="en-US" sz="5800" dirty="0"/>
              <a:t>risk/benefit discussion to be had with the patient</a:t>
            </a:r>
          </a:p>
          <a:p>
            <a:r>
              <a:rPr lang="en-US" sz="5800" b="1" dirty="0"/>
              <a:t>20-39 </a:t>
            </a:r>
            <a:r>
              <a:rPr lang="en-US" sz="5800" b="1" dirty="0" err="1"/>
              <a:t>yo</a:t>
            </a:r>
            <a:r>
              <a:rPr lang="en-US" sz="5800" dirty="0"/>
              <a:t>: consider statin if family hx of premature ASCVD and </a:t>
            </a:r>
            <a:r>
              <a:rPr lang="en-US" sz="5800" dirty="0" err="1"/>
              <a:t>LDLc</a:t>
            </a:r>
            <a:r>
              <a:rPr lang="en-US" sz="5800" dirty="0"/>
              <a:t> ≥160</a:t>
            </a:r>
          </a:p>
          <a:p>
            <a:r>
              <a:rPr lang="en-US" sz="5800" b="1" dirty="0"/>
              <a:t>“Borderline Risk” 5-&lt;7.5% risk</a:t>
            </a:r>
            <a:r>
              <a:rPr lang="en-US" sz="5800" dirty="0"/>
              <a:t>: if risk enhancers present shared decision making of possible moderate intensity statin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7DD72C-20DB-471F-A9B9-AB6FBCE83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01829"/>
            <a:ext cx="5761008" cy="4667250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sz="4400" dirty="0"/>
              <a:t>ASCVD Risk Enhancers:</a:t>
            </a:r>
          </a:p>
          <a:p>
            <a:pPr marL="285750" indent="-285750"/>
            <a:r>
              <a:rPr lang="en-US" sz="4400" dirty="0"/>
              <a:t>Family hx of premature ASCVD</a:t>
            </a:r>
          </a:p>
          <a:p>
            <a:pPr marL="285750" indent="-285750"/>
            <a:r>
              <a:rPr lang="en-US" sz="4400" dirty="0" err="1"/>
              <a:t>LDLc</a:t>
            </a:r>
            <a:r>
              <a:rPr lang="en-US" sz="4400" dirty="0"/>
              <a:t> ≥160</a:t>
            </a:r>
          </a:p>
          <a:p>
            <a:pPr marL="285750" indent="-285750"/>
            <a:r>
              <a:rPr lang="en-US" sz="4400" dirty="0"/>
              <a:t>CKD</a:t>
            </a:r>
          </a:p>
          <a:p>
            <a:pPr marL="285750" indent="-285750"/>
            <a:r>
              <a:rPr lang="en-US" sz="4400" dirty="0"/>
              <a:t>Metabolic Syndrome</a:t>
            </a:r>
          </a:p>
          <a:p>
            <a:pPr marL="285750" indent="-285750"/>
            <a:r>
              <a:rPr lang="en-US" sz="4400" dirty="0"/>
              <a:t>Preeclampsia</a:t>
            </a:r>
          </a:p>
          <a:p>
            <a:pPr marL="285750" indent="-285750"/>
            <a:r>
              <a:rPr lang="en-US" sz="4400" dirty="0"/>
              <a:t>Premature menopause</a:t>
            </a:r>
          </a:p>
          <a:p>
            <a:pPr marL="285750" indent="-285750"/>
            <a:endParaRPr lang="en-US" sz="4400" dirty="0"/>
          </a:p>
          <a:p>
            <a:pPr marL="285750" indent="-285750"/>
            <a:endParaRPr lang="en-US" sz="4400" dirty="0"/>
          </a:p>
          <a:p>
            <a:pPr marL="285750" indent="-285750"/>
            <a:endParaRPr lang="en-US" sz="4400" dirty="0"/>
          </a:p>
          <a:p>
            <a:pPr marL="285750" indent="-285750"/>
            <a:r>
              <a:rPr lang="en-US" sz="4400" dirty="0"/>
              <a:t>Inflammatory Diseases (rheumatoid, psoriasis, HIV)</a:t>
            </a:r>
          </a:p>
          <a:p>
            <a:pPr marL="285750" indent="-285750"/>
            <a:r>
              <a:rPr lang="en-US" sz="4400" dirty="0"/>
              <a:t>Ethnicity (South Asian Ancestry)</a:t>
            </a:r>
          </a:p>
          <a:p>
            <a:pPr marL="285750" indent="-285750"/>
            <a:r>
              <a:rPr lang="en-US" sz="4400" dirty="0"/>
              <a:t>TG ≥175</a:t>
            </a:r>
          </a:p>
          <a:p>
            <a:pPr marL="285750" indent="-285750"/>
            <a:r>
              <a:rPr lang="en-US" sz="4400" dirty="0" err="1"/>
              <a:t>hs</a:t>
            </a:r>
            <a:r>
              <a:rPr lang="en-US" sz="4400" dirty="0"/>
              <a:t> CRP ≥2</a:t>
            </a:r>
          </a:p>
          <a:p>
            <a:pPr marL="285750" indent="-285750"/>
            <a:r>
              <a:rPr lang="en-US" sz="4400" dirty="0"/>
              <a:t>ABI &lt; 0.9</a:t>
            </a:r>
          </a:p>
          <a:p>
            <a:pPr marL="285750" indent="-285750"/>
            <a:r>
              <a:rPr lang="en-US" sz="4400" dirty="0" err="1"/>
              <a:t>Lp</a:t>
            </a:r>
            <a:r>
              <a:rPr lang="en-US" sz="4400" dirty="0"/>
              <a:t>(a) &gt;50</a:t>
            </a:r>
          </a:p>
          <a:p>
            <a:pPr marL="285750" indent="-285750"/>
            <a:r>
              <a:rPr lang="en-US" sz="4400" dirty="0" err="1"/>
              <a:t>apoB</a:t>
            </a:r>
            <a:r>
              <a:rPr lang="en-US" sz="4400" dirty="0"/>
              <a:t> ≥130</a:t>
            </a:r>
          </a:p>
          <a:p>
            <a:endParaRPr lang="en-US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75D508-4483-4F57-9EAA-51709571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4" y="5253037"/>
            <a:ext cx="1609726" cy="160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3289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94CD90-2832-46DF-A411-A093A1E66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What is Metabolic Syndrome?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595869-47CD-4752-948E-0D94EA75E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2203079"/>
            <a:ext cx="11086182" cy="42679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Diagnosed if the patient has 3+ of the following:</a:t>
            </a:r>
          </a:p>
          <a:p>
            <a:r>
              <a:rPr lang="en-US" dirty="0"/>
              <a:t>Waist circumference &gt; 40 inches in men and &gt; 35 inches in women</a:t>
            </a:r>
          </a:p>
          <a:p>
            <a:r>
              <a:rPr lang="en-US" dirty="0"/>
              <a:t>Triglycerides  ≥ 150 milligrams per deciliter of blood (mg/dL) </a:t>
            </a:r>
          </a:p>
          <a:p>
            <a:r>
              <a:rPr lang="en-US" dirty="0"/>
              <a:t>High-density lipoprotein cholesterol (HDL) &lt; 40 mg/dL in men or &lt; 50 mg/dL in women</a:t>
            </a:r>
          </a:p>
          <a:p>
            <a:r>
              <a:rPr lang="en-US" dirty="0"/>
              <a:t>Fasting glucose ≥ 100 mg/dL</a:t>
            </a:r>
          </a:p>
          <a:p>
            <a:r>
              <a:rPr lang="en-US" dirty="0"/>
              <a:t>BP values of systolic ≥ 130 mmHg and/or diastolic ≥ 85 mmHg</a:t>
            </a:r>
          </a:p>
        </p:txBody>
      </p:sp>
    </p:spTree>
    <p:extLst>
      <p:ext uri="{BB962C8B-B14F-4D97-AF65-F5344CB8AC3E}">
        <p14:creationId xmlns:p14="http://schemas.microsoft.com/office/powerpoint/2010/main" val="11557719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Dyslipidemia Treatment		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8792" y="1825625"/>
            <a:ext cx="10142508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5800" dirty="0"/>
              <a:t>Special Cases</a:t>
            </a:r>
          </a:p>
          <a:p>
            <a:pPr marL="0" indent="0">
              <a:buNone/>
            </a:pPr>
            <a:r>
              <a:rPr lang="en-US" sz="5800" b="1" dirty="0"/>
              <a:t>If uncertain consider Coronary Calcium Score:</a:t>
            </a:r>
          </a:p>
          <a:p>
            <a:r>
              <a:rPr lang="en-US" sz="5800" dirty="0"/>
              <a:t>CAC = zero, low risk, consider no statin unless DM, Family hx of premature ASCVD, or Cigarette smoking</a:t>
            </a:r>
          </a:p>
          <a:p>
            <a:r>
              <a:rPr lang="en-US" sz="5800" dirty="0"/>
              <a:t>CAC = 1-99 favors statin, </a:t>
            </a:r>
            <a:r>
              <a:rPr lang="en-US" sz="5800" dirty="0" err="1"/>
              <a:t>esp</a:t>
            </a:r>
            <a:r>
              <a:rPr lang="en-US" sz="5800" dirty="0"/>
              <a:t> if &gt; 55 </a:t>
            </a:r>
            <a:r>
              <a:rPr lang="en-US" sz="5800" dirty="0" err="1"/>
              <a:t>yo</a:t>
            </a:r>
            <a:endParaRPr lang="en-US" sz="5800" dirty="0"/>
          </a:p>
          <a:p>
            <a:r>
              <a:rPr lang="en-US" sz="5800" dirty="0"/>
              <a:t>CAC = 100+ statin indicated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75D508-4483-4F57-9EAA-51709571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4" y="5253037"/>
            <a:ext cx="1609726" cy="160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8504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endParaRPr lang="en-US" dirty="0"/>
          </a:p>
          <a:p>
            <a:pPr fontAlgn="base"/>
            <a:r>
              <a:rPr lang="en-US" sz="3200" dirty="0"/>
              <a:t>Consider non-statin therapy for additional LDL lowering after </a:t>
            </a:r>
            <a:r>
              <a:rPr lang="en-US" sz="3200" i="1" u="sng" dirty="0"/>
              <a:t>statin and lifestyle </a:t>
            </a:r>
            <a:r>
              <a:rPr lang="en-US" sz="3200" dirty="0"/>
              <a:t>has been </a:t>
            </a:r>
            <a:r>
              <a:rPr lang="en-US" sz="3200" i="1" u="sng" dirty="0"/>
              <a:t>maximized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- Maximized in dose </a:t>
            </a:r>
            <a:r>
              <a:rPr lang="en-US" sz="3200" b="1" i="1" u="sng" dirty="0"/>
              <a:t>OR</a:t>
            </a:r>
            <a:r>
              <a:rPr lang="en-US" sz="3200" dirty="0"/>
              <a:t> maximized in patient tolerance…​</a:t>
            </a:r>
            <a:br>
              <a:rPr lang="en-US" sz="3200" dirty="0"/>
            </a:br>
            <a:r>
              <a:rPr lang="en-US" sz="3200" dirty="0"/>
              <a:t>- This is ultimately a shared clinical decision</a:t>
            </a:r>
            <a:r>
              <a:rPr lang="mr-IN" sz="3200" dirty="0"/>
              <a:t>…</a:t>
            </a:r>
            <a:endParaRPr lang="en-US" sz="3200" dirty="0"/>
          </a:p>
          <a:p>
            <a:pPr fontAlgn="base"/>
            <a:endParaRPr lang="en-US" sz="32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5575D508-4483-4F57-9EAA-51709571B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74" y="5253037"/>
            <a:ext cx="1609726" cy="160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2827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1" y="1690688"/>
            <a:ext cx="11438627" cy="4802187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3600" dirty="0"/>
              <a:t>Follow Up</a:t>
            </a:r>
          </a:p>
          <a:p>
            <a:pPr fontAlgn="base"/>
            <a:r>
              <a:rPr lang="en-US" dirty="0"/>
              <a:t>Assess the following within 4-12 weeks following initiation of Statin, or change in the existing regimen:  ​</a:t>
            </a:r>
            <a:br>
              <a:rPr lang="en-US" dirty="0"/>
            </a:br>
            <a:r>
              <a:rPr lang="en-US" b="1" dirty="0"/>
              <a:t>   - adherence</a:t>
            </a: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   - response to therapy</a:t>
            </a:r>
            <a:r>
              <a:rPr lang="en-US" dirty="0"/>
              <a:t>​</a:t>
            </a:r>
            <a:br>
              <a:rPr lang="en-US" dirty="0"/>
            </a:br>
            <a:r>
              <a:rPr lang="en-US" b="1" dirty="0"/>
              <a:t>   - adverse effects </a:t>
            </a:r>
            <a:r>
              <a:rPr lang="en-US" dirty="0"/>
              <a:t>​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/>
            <a:r>
              <a:rPr lang="en-US" b="1" dirty="0"/>
              <a:t>Measure </a:t>
            </a:r>
            <a:r>
              <a:rPr lang="en-US" b="1" i="1" u="sng" dirty="0"/>
              <a:t>fasting</a:t>
            </a:r>
            <a:r>
              <a:rPr lang="en-US" b="1" dirty="0"/>
              <a:t> lipid levels </a:t>
            </a:r>
            <a:endParaRPr lang="en-US" dirty="0"/>
          </a:p>
          <a:p>
            <a:pPr fontAlgn="base"/>
            <a:r>
              <a:rPr lang="en-US" dirty="0"/>
              <a:t>Follow </a:t>
            </a:r>
            <a:r>
              <a:rPr lang="en-US" b="1" dirty="0"/>
              <a:t>ALT/AST</a:t>
            </a:r>
          </a:p>
          <a:p>
            <a:pPr lvl="1" fontAlgn="base"/>
            <a:r>
              <a:rPr lang="en-US" dirty="0"/>
              <a:t>Some have argued </a:t>
            </a:r>
            <a:r>
              <a:rPr lang="en-US" i="1" u="sng" dirty="0"/>
              <a:t>not</a:t>
            </a:r>
            <a:r>
              <a:rPr lang="en-US" dirty="0"/>
              <a:t> to routinely monitor ALT/AST levels unless symptomatic​</a:t>
            </a:r>
          </a:p>
          <a:p>
            <a:pPr fontAlgn="base"/>
            <a:r>
              <a:rPr lang="en-US" dirty="0"/>
              <a:t>However, </a:t>
            </a:r>
            <a:r>
              <a:rPr lang="en-US" b="1" dirty="0"/>
              <a:t>CK </a:t>
            </a:r>
            <a:r>
              <a:rPr lang="en-US" dirty="0"/>
              <a:t>does not need to be assessed unless significantly symptomatic 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6348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1" y="1690688"/>
            <a:ext cx="11438627" cy="480218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600" dirty="0"/>
              <a:t>What if you are </a:t>
            </a:r>
            <a:r>
              <a:rPr lang="en-US" sz="3600" b="1" dirty="0"/>
              <a:t>not getting the response </a:t>
            </a:r>
            <a:r>
              <a:rPr lang="en-US" sz="3600" dirty="0"/>
              <a:t>you want from Statin therapy?</a:t>
            </a:r>
          </a:p>
          <a:p>
            <a:pPr marL="0" indent="0" fontAlgn="base">
              <a:buNone/>
            </a:pPr>
            <a:endParaRPr lang="en-US" sz="3000" dirty="0"/>
          </a:p>
          <a:p>
            <a:pPr fontAlgn="base"/>
            <a:r>
              <a:rPr lang="en-US" sz="3000" dirty="0"/>
              <a:t>Reinforce improved adherence to lifestyle and drug therapy ​</a:t>
            </a:r>
          </a:p>
          <a:p>
            <a:pPr marL="0" indent="0" fontAlgn="base">
              <a:buNone/>
            </a:pPr>
            <a:r>
              <a:rPr lang="en-US" sz="3000" dirty="0"/>
              <a:t>​</a:t>
            </a:r>
          </a:p>
          <a:p>
            <a:pPr fontAlgn="base"/>
            <a:r>
              <a:rPr lang="en-US" sz="3000" dirty="0"/>
              <a:t>Evaluate for </a:t>
            </a:r>
            <a:r>
              <a:rPr lang="en-US" sz="3000" b="1" dirty="0"/>
              <a:t>secondary causes of hyperlipidemia </a:t>
            </a:r>
            <a:r>
              <a:rPr lang="en-US" sz="3000" dirty="0"/>
              <a:t>if indicated ​</a:t>
            </a:r>
          </a:p>
          <a:p>
            <a:pPr fontAlgn="base"/>
            <a:endParaRPr lang="en-US" sz="3000" dirty="0"/>
          </a:p>
          <a:p>
            <a:pPr fontAlgn="base"/>
            <a:r>
              <a:rPr lang="en-US" sz="3000" dirty="0"/>
              <a:t>Increase statin intensity, or if on maximally tolerated statin intensity, consider addition of non-statin therapy in select high-risk individuals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91688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1" y="1690688"/>
            <a:ext cx="11438627" cy="480218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3600" dirty="0"/>
              <a:t>Follow Up if no adjustments are needed?</a:t>
            </a:r>
          </a:p>
          <a:p>
            <a:pPr marL="0" indent="0" fontAlgn="base">
              <a:buNone/>
            </a:pPr>
            <a:endParaRPr lang="en-US" sz="3000" dirty="0"/>
          </a:p>
          <a:p>
            <a:pPr fontAlgn="base"/>
            <a:r>
              <a:rPr lang="en-US" sz="3200" b="1" dirty="0"/>
              <a:t>Regularly monitor adherence to lifestyle and drug therapy every 3 to 12 months after adherence has been established</a:t>
            </a:r>
            <a:r>
              <a:rPr lang="en-US" sz="3200" dirty="0"/>
              <a:t>​</a:t>
            </a:r>
            <a:br>
              <a:rPr lang="en-US" sz="3200" dirty="0"/>
            </a:br>
            <a:r>
              <a:rPr lang="en-US" sz="3200" dirty="0"/>
              <a:t>​</a:t>
            </a:r>
          </a:p>
          <a:p>
            <a:pPr fontAlgn="base"/>
            <a:r>
              <a:rPr lang="en-US" sz="3200" dirty="0"/>
              <a:t> Continue assessment of adherence for optimal ASCVD risk reduction and safety</a:t>
            </a:r>
          </a:p>
          <a:p>
            <a:pPr fontAlgn="base"/>
            <a:r>
              <a:rPr lang="en-US" sz="3200" dirty="0"/>
              <a:t>Continue to monitor for the development of secondary causes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1054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132C-CAA6-42D8-8F96-20EA57652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81" y="365125"/>
            <a:ext cx="11783683" cy="1325563"/>
          </a:xfrm>
        </p:spPr>
        <p:txBody>
          <a:bodyPr/>
          <a:lstStyle/>
          <a:p>
            <a:r>
              <a:rPr lang="en-US" sz="4000" dirty="0"/>
              <a:t>Dyslipidemia Treatment			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ACC/AHA 2019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10D0A-8441-47A2-BAB5-AD4FD6B8F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1" y="1690688"/>
            <a:ext cx="11438627" cy="4802187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sz="3600" dirty="0"/>
              <a:t>What are those secondary causes again?</a:t>
            </a:r>
            <a:endParaRPr lang="en-US" dirty="0"/>
          </a:p>
          <a:p>
            <a:pPr fontAlgn="base"/>
            <a:r>
              <a:rPr lang="en-US" dirty="0"/>
              <a:t>Diabetes Mellitus​</a:t>
            </a:r>
          </a:p>
          <a:p>
            <a:pPr fontAlgn="base"/>
            <a:r>
              <a:rPr lang="en-US" dirty="0"/>
              <a:t>Hypothyroidism​</a:t>
            </a:r>
          </a:p>
          <a:p>
            <a:pPr fontAlgn="base"/>
            <a:r>
              <a:rPr lang="en-US" dirty="0"/>
              <a:t>Excessive alcohol consumption​</a:t>
            </a:r>
          </a:p>
          <a:p>
            <a:pPr fontAlgn="base"/>
            <a:r>
              <a:rPr lang="en-US" dirty="0"/>
              <a:t>Obstructive liver disease (Cholestatic Liver </a:t>
            </a:r>
            <a:r>
              <a:rPr lang="en-US" dirty="0" err="1"/>
              <a:t>Dz</a:t>
            </a:r>
            <a:r>
              <a:rPr lang="en-US" dirty="0"/>
              <a:t>)​</a:t>
            </a:r>
          </a:p>
          <a:p>
            <a:pPr fontAlgn="base"/>
            <a:r>
              <a:rPr lang="en-US" dirty="0"/>
              <a:t>Chronic renal failure​</a:t>
            </a:r>
          </a:p>
          <a:p>
            <a:pPr fontAlgn="base"/>
            <a:r>
              <a:rPr lang="en-US" dirty="0"/>
              <a:t>Cigarette Smoking​</a:t>
            </a:r>
          </a:p>
          <a:p>
            <a:pPr fontAlgn="base"/>
            <a:r>
              <a:rPr lang="en-US" dirty="0"/>
              <a:t>Obesity ​</a:t>
            </a:r>
          </a:p>
          <a:p>
            <a:pPr fontAlgn="base"/>
            <a:r>
              <a:rPr lang="en-US" dirty="0"/>
              <a:t>Drugs: ​</a:t>
            </a:r>
          </a:p>
          <a:p>
            <a:pPr lvl="1" fontAlgn="base"/>
            <a:r>
              <a:rPr lang="en-US" dirty="0"/>
              <a:t>Rx: progestins, anabolic steroids, corticosteroids, protease inhibitors​</a:t>
            </a:r>
          </a:p>
          <a:p>
            <a:pPr lvl="1" fontAlgn="base"/>
            <a:r>
              <a:rPr lang="en-US" dirty="0"/>
              <a:t>Illicit: Cocaine 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856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CBCAB-ED06-4868-B71E-D0E8E72C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Knowledge Check: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D432D-A410-4FEE-B144-4A4047A0B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dirty="0"/>
              <a:t>A 56 </a:t>
            </a:r>
            <a:r>
              <a:rPr lang="en-US" dirty="0" err="1"/>
              <a:t>yo</a:t>
            </a:r>
            <a:r>
              <a:rPr lang="en-US" dirty="0"/>
              <a:t> male with  </a:t>
            </a:r>
            <a:r>
              <a:rPr lang="en-US" dirty="0" err="1"/>
              <a:t>hx</a:t>
            </a:r>
            <a:r>
              <a:rPr lang="en-US" dirty="0"/>
              <a:t> of DM, HTN, HLD, and OSA is following up in office today. Family </a:t>
            </a:r>
            <a:r>
              <a:rPr lang="en-US" dirty="0" err="1"/>
              <a:t>hx</a:t>
            </a:r>
            <a:r>
              <a:rPr lang="en-US" dirty="0"/>
              <a:t> of DM, HTN, HLD, MI, CVA. Pt does not smoke. Surgical </a:t>
            </a:r>
            <a:r>
              <a:rPr lang="en-US" dirty="0" err="1"/>
              <a:t>hx</a:t>
            </a:r>
            <a:r>
              <a:rPr lang="en-US" dirty="0"/>
              <a:t> of T&amp;A, mesh hernia repair and coronary stent placement. </a:t>
            </a:r>
          </a:p>
          <a:p>
            <a:endParaRPr lang="en-US" dirty="0"/>
          </a:p>
          <a:p>
            <a:r>
              <a:rPr lang="en-US" dirty="0"/>
              <a:t>Cholesterol treatment plan?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64577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CBCAB-ED06-4868-B71E-D0E8E72C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Knowledge Check: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D432D-A410-4FEE-B144-4A4047A0B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/>
          </a:bodyPr>
          <a:lstStyle/>
          <a:p>
            <a:r>
              <a:rPr lang="en-US" dirty="0"/>
              <a:t>A 47 year old Black smoker presents for his yearly physical. He has </a:t>
            </a:r>
            <a:r>
              <a:rPr lang="en-US" dirty="0" err="1"/>
              <a:t>hx</a:t>
            </a:r>
            <a:r>
              <a:rPr lang="en-US" dirty="0"/>
              <a:t> of OSA, HTN, and OA. His BP today is 132/78 on lisinopril. His recent lipid panel; TC 284, </a:t>
            </a:r>
            <a:r>
              <a:rPr lang="en-US" dirty="0" err="1"/>
              <a:t>LDLc</a:t>
            </a:r>
            <a:r>
              <a:rPr lang="en-US" dirty="0"/>
              <a:t> 153, TG 178, HDL c 35</a:t>
            </a:r>
          </a:p>
          <a:p>
            <a:endParaRPr lang="en-US" dirty="0"/>
          </a:p>
          <a:p>
            <a:r>
              <a:rPr lang="en-US" dirty="0"/>
              <a:t>Cholesterol treatment plan?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78330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CBCAB-ED06-4868-B71E-D0E8E72C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Knowledge Check: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D432D-A410-4FEE-B144-4A4047A0B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A 58 year old Caucasian Female presents for her work physical. She has </a:t>
            </a:r>
            <a:r>
              <a:rPr lang="en-US" dirty="0" err="1"/>
              <a:t>hx</a:t>
            </a:r>
            <a:r>
              <a:rPr lang="en-US" dirty="0"/>
              <a:t> of HTN and HLD. She has been trying to control her cholesterol with diet for the past 6 months. Her BP today is 148/81 on lisinopril. She is a nonsmoker. Her most recent recent lipid panel; TC 256, </a:t>
            </a:r>
            <a:r>
              <a:rPr lang="en-US" dirty="0" err="1"/>
              <a:t>LDLc</a:t>
            </a:r>
            <a:r>
              <a:rPr lang="en-US" dirty="0"/>
              <a:t> 187, TG 192, HDL c 42</a:t>
            </a:r>
          </a:p>
          <a:p>
            <a:endParaRPr lang="en-US" dirty="0"/>
          </a:p>
          <a:p>
            <a:r>
              <a:rPr lang="en-US" dirty="0"/>
              <a:t>Cholesterol treatment plan?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3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5348</Words>
  <Application>Microsoft Office PowerPoint</Application>
  <PresentationFormat>Widescreen</PresentationFormat>
  <Paragraphs>763</Paragraphs>
  <Slides>96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2" baseType="lpstr">
      <vt:lpstr>Arial</vt:lpstr>
      <vt:lpstr>Calibri</vt:lpstr>
      <vt:lpstr>Calibri Light</vt:lpstr>
      <vt:lpstr>Symbol</vt:lpstr>
      <vt:lpstr>Wingdings</vt:lpstr>
      <vt:lpstr>Office Theme</vt:lpstr>
      <vt:lpstr>Lipid Physiology and Dyslipidemia</vt:lpstr>
      <vt:lpstr>Outline </vt:lpstr>
      <vt:lpstr>Atherosclerosis</vt:lpstr>
      <vt:lpstr>Atherosclerosis</vt:lpstr>
      <vt:lpstr>Atherosclerosis Pathophysiology</vt:lpstr>
      <vt:lpstr>Atherosclerosis Pathophysiology</vt:lpstr>
      <vt:lpstr>Atherosclerosis Pathophysiology</vt:lpstr>
      <vt:lpstr>Atherosclerosis Pathophysiology</vt:lpstr>
      <vt:lpstr>Atherosclerosis Pathophysiology</vt:lpstr>
      <vt:lpstr>Atherosclerosis Pathophysiology</vt:lpstr>
      <vt:lpstr>Clinical Arteriosclerotic Cardiovascular Disease (ASCVD) Defined in the following:</vt:lpstr>
      <vt:lpstr>Atherosclerosis Pathophysiology   </vt:lpstr>
      <vt:lpstr>Lipoprotein Metabolism</vt:lpstr>
      <vt:lpstr>Lipoprotein Metabolism</vt:lpstr>
      <vt:lpstr>Free Fatty Acids/Triglycerides</vt:lpstr>
      <vt:lpstr>Lipoprotein Metabolism  – Free Fatty Acids</vt:lpstr>
      <vt:lpstr>Lipoprotein Metabolism  – Free Fatty Acids</vt:lpstr>
      <vt:lpstr>Lipoprotein Metabolism– Free Fatty Acids</vt:lpstr>
      <vt:lpstr>Lipoprotein Metabolism – Free Fatty Acids</vt:lpstr>
      <vt:lpstr>Lipoprotein Metabolism  – Free Fatty Acids</vt:lpstr>
      <vt:lpstr>Lipoprotein Metabolism – Free Fatty Acids</vt:lpstr>
      <vt:lpstr>Lipoprotein Metabolism</vt:lpstr>
      <vt:lpstr>Lipoprotein Metabolism – Cholesterol</vt:lpstr>
      <vt:lpstr>Lipoprotein Metabolism – Cholesterol</vt:lpstr>
      <vt:lpstr>PowerPoint Presentation</vt:lpstr>
      <vt:lpstr>Dyslipidemia</vt:lpstr>
      <vt:lpstr>Dyslipidemia: Why do we care about Lipids?</vt:lpstr>
      <vt:lpstr>CAD Prevention- Primary vs Secondary</vt:lpstr>
      <vt:lpstr>CAD Prevention</vt:lpstr>
      <vt:lpstr>CAD Prevention</vt:lpstr>
      <vt:lpstr>CAD Risk Factors</vt:lpstr>
      <vt:lpstr>CAD Risk Factors Effects on Lipids</vt:lpstr>
      <vt:lpstr>PowerPoint Presentation</vt:lpstr>
      <vt:lpstr>CAD Risk Factors Effects on Lipids</vt:lpstr>
      <vt:lpstr>CAD</vt:lpstr>
      <vt:lpstr>Dyslipidemia</vt:lpstr>
      <vt:lpstr>Dyslipidemia</vt:lpstr>
      <vt:lpstr>Dyslipidemia</vt:lpstr>
      <vt:lpstr>Dyslipidemia</vt:lpstr>
      <vt:lpstr>Genetic Causes of Dyslipidemia</vt:lpstr>
      <vt:lpstr>Genetic Disorders of Lipid Metabolism</vt:lpstr>
      <vt:lpstr>Familial Hypercholesterolemia:</vt:lpstr>
      <vt:lpstr>Familial Hypercholesterolemia:</vt:lpstr>
      <vt:lpstr>Familial Hypercholesterolemia:</vt:lpstr>
      <vt:lpstr>Genetic Disorders of Lipid Metabolism</vt:lpstr>
      <vt:lpstr>Familial Hypertriglyceridemia</vt:lpstr>
      <vt:lpstr>Familial Hypertriglyceridemia</vt:lpstr>
      <vt:lpstr>Dyslipidemia Diagnostics</vt:lpstr>
      <vt:lpstr>Dyslipidemia Diagnostics</vt:lpstr>
      <vt:lpstr>Dyslipidemia Diagnostics</vt:lpstr>
      <vt:lpstr>Dyslipidemia Diagnostics</vt:lpstr>
      <vt:lpstr>Dyslipidemia Diagnostics</vt:lpstr>
      <vt:lpstr>Dyslipidemia Diagnostics  NMR</vt:lpstr>
      <vt:lpstr>Dyslipidemia Diagnostics hs-CRP</vt:lpstr>
      <vt:lpstr>Dyslipidemia Diagnostics hs-CRP</vt:lpstr>
      <vt:lpstr>Dyslipidemia Diagnostics   CAC</vt:lpstr>
      <vt:lpstr>Dyslipidemia Diagnostics</vt:lpstr>
      <vt:lpstr>Dyslipidemia Diagnostics</vt:lpstr>
      <vt:lpstr>Framingham Heart Study</vt:lpstr>
      <vt:lpstr>Dyslipidemia Diagnostics - Interpretation</vt:lpstr>
      <vt:lpstr>ASCVD Risk</vt:lpstr>
      <vt:lpstr>Dyslipidemia Treatment</vt:lpstr>
      <vt:lpstr>Dyslipidemia Treatment</vt:lpstr>
      <vt:lpstr>Dyslipidemia Treatment</vt:lpstr>
      <vt:lpstr>Dyslipidemia Treatment  Dietary Changes</vt:lpstr>
      <vt:lpstr>Dyslipidemia Treatment</vt:lpstr>
      <vt:lpstr>Dyslipidemia Treatment    Statins</vt:lpstr>
      <vt:lpstr>Dyslipidemia Treatment   Statins</vt:lpstr>
      <vt:lpstr>Dyslipidemia Treatment   Statins</vt:lpstr>
      <vt:lpstr>Dyslipidemia Treatment   Statins</vt:lpstr>
      <vt:lpstr>Dyslipidemia Treatment   Statins</vt:lpstr>
      <vt:lpstr>Dyslipidemia Treatment   Statins</vt:lpstr>
      <vt:lpstr>Dyslipidemia Treatment   Statins</vt:lpstr>
      <vt:lpstr>Dyslipidemia Treatment    Ezetimibe</vt:lpstr>
      <vt:lpstr>Dyslipidemia Treatment    Ezetimibe</vt:lpstr>
      <vt:lpstr>Dyslipidemia Treatment    Ezetimibe</vt:lpstr>
      <vt:lpstr>Dyslipidemia Treatment  PCSK9 Inhibitors</vt:lpstr>
      <vt:lpstr>Dyslipidemia Treatment  PCSK9 Inhibitors</vt:lpstr>
      <vt:lpstr>Dyslipidemia Treatment Bile Acid Sequestrants</vt:lpstr>
      <vt:lpstr>Dyslipidemia Treatment Fibric Acid Derivatives</vt:lpstr>
      <vt:lpstr>Dyslipidemia Treatment   Niacin</vt:lpstr>
      <vt:lpstr>Dyslipidemia Treatment   Fish Oil</vt:lpstr>
      <vt:lpstr>Dyslipidemia Treatment</vt:lpstr>
      <vt:lpstr>Dyslipidemia Treatment Algorithm</vt:lpstr>
      <vt:lpstr>Dyslipidemia Treatment    ACC/AHA 2019 </vt:lpstr>
      <vt:lpstr>Dyslipidemia Treatment  ACC/AHA 2019 </vt:lpstr>
      <vt:lpstr>What is Metabolic Syndrome?</vt:lpstr>
      <vt:lpstr>Dyslipidemia Treatment  ACC/AHA 2019 </vt:lpstr>
      <vt:lpstr>Dyslipidemia Treatment    ACC/AHA 2019 </vt:lpstr>
      <vt:lpstr>Dyslipidemia Treatment    ACC/AHA 2019 </vt:lpstr>
      <vt:lpstr>Dyslipidemia Treatment    ACC/AHA 2019 </vt:lpstr>
      <vt:lpstr>Dyslipidemia Treatment    ACC/AHA 2019 </vt:lpstr>
      <vt:lpstr>Dyslipidemia Treatment    ACC/AHA 2019 </vt:lpstr>
      <vt:lpstr>Knowledge Check:</vt:lpstr>
      <vt:lpstr>Knowledge Check:</vt:lpstr>
      <vt:lpstr>Knowledge Check: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2026-10-15T15:46:55Z</dcterms:created>
  <dcterms:modified xsi:type="dcterms:W3CDTF">2026-10-15T15:50:02Z</dcterms:modified>
</cp:coreProperties>
</file>